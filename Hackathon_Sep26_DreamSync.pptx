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10"/>
  </p:notesMasterIdLst>
  <p:sldIdLst>
    <p:sldId id="2147482967" r:id="rId3"/>
    <p:sldId id="2147482943" r:id="rId4"/>
    <p:sldId id="2147482945" r:id="rId5"/>
    <p:sldId id="2147482949" r:id="rId6"/>
    <p:sldId id="2147482948" r:id="rId7"/>
    <p:sldId id="2147482972" r:id="rId8"/>
    <p:sldId id="21474829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A22C5C-7F57-4A70-AB47-2829A53CBEB3}" v="13" dt="2026-09-06T21:51:29.152"/>
    <p1510:client id="{E83B2E3A-387B-4C72-9E41-0348A6FEF98C}" v="8" dt="2026-09-06T16:56:15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D018F5-E19B-4C93-B955-B439FDF5A8E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4249D6-28BA-4233-890F-FCBBD56219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Sourcing</a:t>
          </a:r>
          <a:r>
            <a:rPr lang="en-US" dirty="0"/>
            <a:t> — responsibly sourced, low-embodied-carbon materials (certified wood, recycled/bio-based inputs, low-impact finishes), with supplier-level carbon data where available.</a:t>
          </a:r>
        </a:p>
      </dgm:t>
    </dgm:pt>
    <dgm:pt modelId="{CCCADFD7-0F72-43C7-B18D-00A8297135B5}" type="parTrans" cxnId="{A9BCD16A-AABF-45AB-BE6B-EA651ADA3484}">
      <dgm:prSet/>
      <dgm:spPr/>
      <dgm:t>
        <a:bodyPr/>
        <a:lstStyle/>
        <a:p>
          <a:endParaRPr lang="en-US"/>
        </a:p>
      </dgm:t>
    </dgm:pt>
    <dgm:pt modelId="{11D4AE53-1004-4ED0-B5F1-9151D606085B}" type="sibTrans" cxnId="{A9BCD16A-AABF-45AB-BE6B-EA651ADA3484}">
      <dgm:prSet/>
      <dgm:spPr/>
      <dgm:t>
        <a:bodyPr/>
        <a:lstStyle/>
        <a:p>
          <a:endParaRPr lang="en-US"/>
        </a:p>
      </dgm:t>
    </dgm:pt>
    <dgm:pt modelId="{21DA8E97-818D-4DAD-9657-798E4EF1B6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Manufacturing</a:t>
          </a:r>
          <a:r>
            <a:rPr lang="en-US" dirty="0"/>
            <a:t> — energy-efficient production (renewable energy use, waste reduction, optimized cut yields) tracked against a per-unit carbon baseline.</a:t>
          </a:r>
        </a:p>
      </dgm:t>
    </dgm:pt>
    <dgm:pt modelId="{25B09553-A8F3-447A-9B84-3D4161E9BCD2}" type="parTrans" cxnId="{B0FAD698-BACD-407C-A8C0-945CECC2CA0A}">
      <dgm:prSet/>
      <dgm:spPr/>
      <dgm:t>
        <a:bodyPr/>
        <a:lstStyle/>
        <a:p>
          <a:endParaRPr lang="en-US"/>
        </a:p>
      </dgm:t>
    </dgm:pt>
    <dgm:pt modelId="{9EFB2576-F6C3-44CC-8F6D-A7B4CC8A1BA5}" type="sibTrans" cxnId="{B0FAD698-BACD-407C-A8C0-945CECC2CA0A}">
      <dgm:prSet/>
      <dgm:spPr/>
      <dgm:t>
        <a:bodyPr/>
        <a:lstStyle/>
        <a:p>
          <a:endParaRPr lang="en-US"/>
        </a:p>
      </dgm:t>
    </dgm:pt>
    <dgm:pt modelId="{30C17F5A-53E3-4F22-8E02-EBFCBFCB65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Durability &amp; Design </a:t>
          </a:r>
          <a:r>
            <a:rPr lang="en-US" dirty="0"/>
            <a:t>— products engineered for long service life, modularity, and ease of repair, reducing replacement-driven emissions over time.</a:t>
          </a:r>
        </a:p>
      </dgm:t>
    </dgm:pt>
    <dgm:pt modelId="{D66B332E-3A65-4B93-BE3F-33D880851A3A}" type="parTrans" cxnId="{B48C07C1-59D4-4C72-825B-6F50599C8D68}">
      <dgm:prSet/>
      <dgm:spPr/>
      <dgm:t>
        <a:bodyPr/>
        <a:lstStyle/>
        <a:p>
          <a:endParaRPr lang="en-US"/>
        </a:p>
      </dgm:t>
    </dgm:pt>
    <dgm:pt modelId="{87024FA0-423F-43CA-9D4A-800814962F61}" type="sibTrans" cxnId="{B48C07C1-59D4-4C72-825B-6F50599C8D68}">
      <dgm:prSet/>
      <dgm:spPr/>
      <dgm:t>
        <a:bodyPr/>
        <a:lstStyle/>
        <a:p>
          <a:endParaRPr lang="en-US"/>
        </a:p>
      </dgm:t>
    </dgm:pt>
    <dgm:pt modelId="{867AB962-E894-4D46-8545-BEEDAD783881}" type="pres">
      <dgm:prSet presAssocID="{ABD018F5-E19B-4C93-B955-B439FDF5A8EE}" presName="root" presStyleCnt="0">
        <dgm:presLayoutVars>
          <dgm:dir/>
          <dgm:resizeHandles val="exact"/>
        </dgm:presLayoutVars>
      </dgm:prSet>
      <dgm:spPr/>
    </dgm:pt>
    <dgm:pt modelId="{8DBAE508-4D85-4E92-A1D5-F10827CA9593}" type="pres">
      <dgm:prSet presAssocID="{C64249D6-28BA-4233-890F-FCBBD5621912}" presName="compNode" presStyleCnt="0"/>
      <dgm:spPr/>
    </dgm:pt>
    <dgm:pt modelId="{B447C8BC-E237-4AB1-8A87-D50BE977923E}" type="pres">
      <dgm:prSet presAssocID="{C64249D6-28BA-4233-890F-FCBBD5621912}" presName="bgRect" presStyleLbl="bgShp" presStyleIdx="0" presStyleCnt="3"/>
      <dgm:spPr>
        <a:solidFill>
          <a:schemeClr val="accent6">
            <a:lumMod val="20000"/>
            <a:lumOff val="80000"/>
          </a:schemeClr>
        </a:solidFill>
      </dgm:spPr>
    </dgm:pt>
    <dgm:pt modelId="{06B8E378-3055-4BE0-9168-1394C105A446}" type="pres">
      <dgm:prSet presAssocID="{C64249D6-28BA-4233-890F-FCBBD562191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373C44EC-A078-43F5-B3AF-3329EB17EC58}" type="pres">
      <dgm:prSet presAssocID="{C64249D6-28BA-4233-890F-FCBBD5621912}" presName="spaceRect" presStyleCnt="0"/>
      <dgm:spPr/>
    </dgm:pt>
    <dgm:pt modelId="{FF3E409D-3D57-4E5E-9BDB-4E7F9A8E7E3A}" type="pres">
      <dgm:prSet presAssocID="{C64249D6-28BA-4233-890F-FCBBD5621912}" presName="parTx" presStyleLbl="revTx" presStyleIdx="0" presStyleCnt="3">
        <dgm:presLayoutVars>
          <dgm:chMax val="0"/>
          <dgm:chPref val="0"/>
        </dgm:presLayoutVars>
      </dgm:prSet>
      <dgm:spPr/>
    </dgm:pt>
    <dgm:pt modelId="{99241DC1-F99D-45C6-8265-DD4F6D907FE4}" type="pres">
      <dgm:prSet presAssocID="{11D4AE53-1004-4ED0-B5F1-9151D606085B}" presName="sibTrans" presStyleCnt="0"/>
      <dgm:spPr/>
    </dgm:pt>
    <dgm:pt modelId="{CF37E396-EC25-49F7-8DFE-11AB966AF701}" type="pres">
      <dgm:prSet presAssocID="{21DA8E97-818D-4DAD-9657-798E4EF1B619}" presName="compNode" presStyleCnt="0"/>
      <dgm:spPr/>
    </dgm:pt>
    <dgm:pt modelId="{36C11882-F3E1-4768-BE45-77367A74A089}" type="pres">
      <dgm:prSet presAssocID="{21DA8E97-818D-4DAD-9657-798E4EF1B619}" presName="bgRect" presStyleLbl="bgShp" presStyleIdx="1" presStyleCnt="3" custLinFactNeighborX="998" custLinFactNeighborY="-1266"/>
      <dgm:spPr>
        <a:solidFill>
          <a:schemeClr val="accent6">
            <a:lumMod val="20000"/>
            <a:lumOff val="80000"/>
          </a:schemeClr>
        </a:solidFill>
      </dgm:spPr>
    </dgm:pt>
    <dgm:pt modelId="{51E34D13-4C1E-4384-981A-A1773E28BB28}" type="pres">
      <dgm:prSet presAssocID="{21DA8E97-818D-4DAD-9657-798E4EF1B61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9F5A78A4-E6AA-486A-95A3-86932A70AE53}" type="pres">
      <dgm:prSet presAssocID="{21DA8E97-818D-4DAD-9657-798E4EF1B619}" presName="spaceRect" presStyleCnt="0"/>
      <dgm:spPr/>
    </dgm:pt>
    <dgm:pt modelId="{D814DF32-4824-48DE-9F59-D5ADEA4A32DB}" type="pres">
      <dgm:prSet presAssocID="{21DA8E97-818D-4DAD-9657-798E4EF1B619}" presName="parTx" presStyleLbl="revTx" presStyleIdx="1" presStyleCnt="3">
        <dgm:presLayoutVars>
          <dgm:chMax val="0"/>
          <dgm:chPref val="0"/>
        </dgm:presLayoutVars>
      </dgm:prSet>
      <dgm:spPr/>
    </dgm:pt>
    <dgm:pt modelId="{CA247B0E-3C94-4A15-8BF1-E38E0F403EE2}" type="pres">
      <dgm:prSet presAssocID="{9EFB2576-F6C3-44CC-8F6D-A7B4CC8A1BA5}" presName="sibTrans" presStyleCnt="0"/>
      <dgm:spPr/>
    </dgm:pt>
    <dgm:pt modelId="{EDAEE4C6-A0E0-4608-A113-EFF1ECC39703}" type="pres">
      <dgm:prSet presAssocID="{30C17F5A-53E3-4F22-8E02-EBFCBFCB65DE}" presName="compNode" presStyleCnt="0"/>
      <dgm:spPr/>
    </dgm:pt>
    <dgm:pt modelId="{A379420E-2809-4327-BEA6-1985DC4281AB}" type="pres">
      <dgm:prSet presAssocID="{30C17F5A-53E3-4F22-8E02-EBFCBFCB65DE}" presName="bgRect" presStyleLbl="bgShp" presStyleIdx="2" presStyleCnt="3"/>
      <dgm:spPr>
        <a:solidFill>
          <a:schemeClr val="accent6">
            <a:lumMod val="20000"/>
            <a:lumOff val="80000"/>
          </a:schemeClr>
        </a:solidFill>
      </dgm:spPr>
    </dgm:pt>
    <dgm:pt modelId="{252B0AC9-C046-4A3E-A1EE-BB812BE801C5}" type="pres">
      <dgm:prSet presAssocID="{30C17F5A-53E3-4F22-8E02-EBFCBFCB65D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138E4AB2-117F-47C5-BC44-6979EE44E47C}" type="pres">
      <dgm:prSet presAssocID="{30C17F5A-53E3-4F22-8E02-EBFCBFCB65DE}" presName="spaceRect" presStyleCnt="0"/>
      <dgm:spPr/>
    </dgm:pt>
    <dgm:pt modelId="{0D710EA1-1561-4EC9-BBC0-3AE93B090CD9}" type="pres">
      <dgm:prSet presAssocID="{30C17F5A-53E3-4F22-8E02-EBFCBFCB65D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2F89D11-4C93-481B-A12B-5EEAFFB96354}" type="presOf" srcId="{C64249D6-28BA-4233-890F-FCBBD5621912}" destId="{FF3E409D-3D57-4E5E-9BDB-4E7F9A8E7E3A}" srcOrd="0" destOrd="0" presId="urn:microsoft.com/office/officeart/2018/2/layout/IconVerticalSolidList"/>
    <dgm:cxn modelId="{0B08FD63-2F3A-4F87-BCA0-E5485EB5DFE7}" type="presOf" srcId="{30C17F5A-53E3-4F22-8E02-EBFCBFCB65DE}" destId="{0D710EA1-1561-4EC9-BBC0-3AE93B090CD9}" srcOrd="0" destOrd="0" presId="urn:microsoft.com/office/officeart/2018/2/layout/IconVerticalSolidList"/>
    <dgm:cxn modelId="{A9BCD16A-AABF-45AB-BE6B-EA651ADA3484}" srcId="{ABD018F5-E19B-4C93-B955-B439FDF5A8EE}" destId="{C64249D6-28BA-4233-890F-FCBBD5621912}" srcOrd="0" destOrd="0" parTransId="{CCCADFD7-0F72-43C7-B18D-00A8297135B5}" sibTransId="{11D4AE53-1004-4ED0-B5F1-9151D606085B}"/>
    <dgm:cxn modelId="{85DAD681-1FA0-4609-A852-45A97184A993}" type="presOf" srcId="{21DA8E97-818D-4DAD-9657-798E4EF1B619}" destId="{D814DF32-4824-48DE-9F59-D5ADEA4A32DB}" srcOrd="0" destOrd="0" presId="urn:microsoft.com/office/officeart/2018/2/layout/IconVerticalSolidList"/>
    <dgm:cxn modelId="{B0FAD698-BACD-407C-A8C0-945CECC2CA0A}" srcId="{ABD018F5-E19B-4C93-B955-B439FDF5A8EE}" destId="{21DA8E97-818D-4DAD-9657-798E4EF1B619}" srcOrd="1" destOrd="0" parTransId="{25B09553-A8F3-447A-9B84-3D4161E9BCD2}" sibTransId="{9EFB2576-F6C3-44CC-8F6D-A7B4CC8A1BA5}"/>
    <dgm:cxn modelId="{B48C07C1-59D4-4C72-825B-6F50599C8D68}" srcId="{ABD018F5-E19B-4C93-B955-B439FDF5A8EE}" destId="{30C17F5A-53E3-4F22-8E02-EBFCBFCB65DE}" srcOrd="2" destOrd="0" parTransId="{D66B332E-3A65-4B93-BE3F-33D880851A3A}" sibTransId="{87024FA0-423F-43CA-9D4A-800814962F61}"/>
    <dgm:cxn modelId="{2EE2B8E2-7E75-49D4-BFC4-B2DDDD843307}" type="presOf" srcId="{ABD018F5-E19B-4C93-B955-B439FDF5A8EE}" destId="{867AB962-E894-4D46-8545-BEEDAD783881}" srcOrd="0" destOrd="0" presId="urn:microsoft.com/office/officeart/2018/2/layout/IconVerticalSolidList"/>
    <dgm:cxn modelId="{1DE90C91-3361-4F2A-A415-ABB3B05D251D}" type="presParOf" srcId="{867AB962-E894-4D46-8545-BEEDAD783881}" destId="{8DBAE508-4D85-4E92-A1D5-F10827CA9593}" srcOrd="0" destOrd="0" presId="urn:microsoft.com/office/officeart/2018/2/layout/IconVerticalSolidList"/>
    <dgm:cxn modelId="{E4413631-4BE6-4326-8AD0-D523C05AC47B}" type="presParOf" srcId="{8DBAE508-4D85-4E92-A1D5-F10827CA9593}" destId="{B447C8BC-E237-4AB1-8A87-D50BE977923E}" srcOrd="0" destOrd="0" presId="urn:microsoft.com/office/officeart/2018/2/layout/IconVerticalSolidList"/>
    <dgm:cxn modelId="{4CA6A869-FEFA-4EC8-8982-B422CC8108CC}" type="presParOf" srcId="{8DBAE508-4D85-4E92-A1D5-F10827CA9593}" destId="{06B8E378-3055-4BE0-9168-1394C105A446}" srcOrd="1" destOrd="0" presId="urn:microsoft.com/office/officeart/2018/2/layout/IconVerticalSolidList"/>
    <dgm:cxn modelId="{9ACDE245-451E-4DBF-B85C-28B03AD9B8B4}" type="presParOf" srcId="{8DBAE508-4D85-4E92-A1D5-F10827CA9593}" destId="{373C44EC-A078-43F5-B3AF-3329EB17EC58}" srcOrd="2" destOrd="0" presId="urn:microsoft.com/office/officeart/2018/2/layout/IconVerticalSolidList"/>
    <dgm:cxn modelId="{3EE0C474-717D-44F4-8001-FF028A19F1E1}" type="presParOf" srcId="{8DBAE508-4D85-4E92-A1D5-F10827CA9593}" destId="{FF3E409D-3D57-4E5E-9BDB-4E7F9A8E7E3A}" srcOrd="3" destOrd="0" presId="urn:microsoft.com/office/officeart/2018/2/layout/IconVerticalSolidList"/>
    <dgm:cxn modelId="{AD35CE32-DE95-41A6-AB2D-EF27B7E5A1F5}" type="presParOf" srcId="{867AB962-E894-4D46-8545-BEEDAD783881}" destId="{99241DC1-F99D-45C6-8265-DD4F6D907FE4}" srcOrd="1" destOrd="0" presId="urn:microsoft.com/office/officeart/2018/2/layout/IconVerticalSolidList"/>
    <dgm:cxn modelId="{03E97F98-CCF7-409A-B741-8AEDBFC3B5CE}" type="presParOf" srcId="{867AB962-E894-4D46-8545-BEEDAD783881}" destId="{CF37E396-EC25-49F7-8DFE-11AB966AF701}" srcOrd="2" destOrd="0" presId="urn:microsoft.com/office/officeart/2018/2/layout/IconVerticalSolidList"/>
    <dgm:cxn modelId="{977D317E-6616-46DE-B611-39885387F5B1}" type="presParOf" srcId="{CF37E396-EC25-49F7-8DFE-11AB966AF701}" destId="{36C11882-F3E1-4768-BE45-77367A74A089}" srcOrd="0" destOrd="0" presId="urn:microsoft.com/office/officeart/2018/2/layout/IconVerticalSolidList"/>
    <dgm:cxn modelId="{01B5D23D-F8DA-4F30-BBF0-9E7250894CB9}" type="presParOf" srcId="{CF37E396-EC25-49F7-8DFE-11AB966AF701}" destId="{51E34D13-4C1E-4384-981A-A1773E28BB28}" srcOrd="1" destOrd="0" presId="urn:microsoft.com/office/officeart/2018/2/layout/IconVerticalSolidList"/>
    <dgm:cxn modelId="{60B2A437-B938-4B8D-9D80-40AC591E3B07}" type="presParOf" srcId="{CF37E396-EC25-49F7-8DFE-11AB966AF701}" destId="{9F5A78A4-E6AA-486A-95A3-86932A70AE53}" srcOrd="2" destOrd="0" presId="urn:microsoft.com/office/officeart/2018/2/layout/IconVerticalSolidList"/>
    <dgm:cxn modelId="{7E33B4F0-3CCD-43DB-A822-21FD812E3D7E}" type="presParOf" srcId="{CF37E396-EC25-49F7-8DFE-11AB966AF701}" destId="{D814DF32-4824-48DE-9F59-D5ADEA4A32DB}" srcOrd="3" destOrd="0" presId="urn:microsoft.com/office/officeart/2018/2/layout/IconVerticalSolidList"/>
    <dgm:cxn modelId="{34FC4335-B9C8-4772-9F73-4AE0CC8464AD}" type="presParOf" srcId="{867AB962-E894-4D46-8545-BEEDAD783881}" destId="{CA247B0E-3C94-4A15-8BF1-E38E0F403EE2}" srcOrd="3" destOrd="0" presId="urn:microsoft.com/office/officeart/2018/2/layout/IconVerticalSolidList"/>
    <dgm:cxn modelId="{DF6BB0FC-513B-4836-97FA-3E28EB0C7C18}" type="presParOf" srcId="{867AB962-E894-4D46-8545-BEEDAD783881}" destId="{EDAEE4C6-A0E0-4608-A113-EFF1ECC39703}" srcOrd="4" destOrd="0" presId="urn:microsoft.com/office/officeart/2018/2/layout/IconVerticalSolidList"/>
    <dgm:cxn modelId="{633C23EF-D0E3-4D99-B4DB-CD8C7734D046}" type="presParOf" srcId="{EDAEE4C6-A0E0-4608-A113-EFF1ECC39703}" destId="{A379420E-2809-4327-BEA6-1985DC4281AB}" srcOrd="0" destOrd="0" presId="urn:microsoft.com/office/officeart/2018/2/layout/IconVerticalSolidList"/>
    <dgm:cxn modelId="{C03BF266-F32A-41D1-B53F-FA94D02098D3}" type="presParOf" srcId="{EDAEE4C6-A0E0-4608-A113-EFF1ECC39703}" destId="{252B0AC9-C046-4A3E-A1EE-BB812BE801C5}" srcOrd="1" destOrd="0" presId="urn:microsoft.com/office/officeart/2018/2/layout/IconVerticalSolidList"/>
    <dgm:cxn modelId="{0CF4389A-4920-427A-A621-879B2F7193BF}" type="presParOf" srcId="{EDAEE4C6-A0E0-4608-A113-EFF1ECC39703}" destId="{138E4AB2-117F-47C5-BC44-6979EE44E47C}" srcOrd="2" destOrd="0" presId="urn:microsoft.com/office/officeart/2018/2/layout/IconVerticalSolidList"/>
    <dgm:cxn modelId="{A55231E2-2714-4134-8FBF-FE40EFA04CB1}" type="presParOf" srcId="{EDAEE4C6-A0E0-4608-A113-EFF1ECC39703}" destId="{0D710EA1-1561-4EC9-BBC0-3AE93B090C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47C8BC-E237-4AB1-8A87-D50BE977923E}">
      <dsp:nvSpPr>
        <dsp:cNvPr id="0" name=""/>
        <dsp:cNvSpPr/>
      </dsp:nvSpPr>
      <dsp:spPr>
        <a:xfrm>
          <a:off x="0" y="2411"/>
          <a:ext cx="5045717" cy="1152787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B8E378-3055-4BE0-9168-1394C105A446}">
      <dsp:nvSpPr>
        <dsp:cNvPr id="0" name=""/>
        <dsp:cNvSpPr/>
      </dsp:nvSpPr>
      <dsp:spPr>
        <a:xfrm>
          <a:off x="348718" y="261789"/>
          <a:ext cx="634652" cy="6340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E409D-3D57-4E5E-9BDB-4E7F9A8E7E3A}">
      <dsp:nvSpPr>
        <dsp:cNvPr id="0" name=""/>
        <dsp:cNvSpPr/>
      </dsp:nvSpPr>
      <dsp:spPr>
        <a:xfrm>
          <a:off x="1332089" y="2411"/>
          <a:ext cx="3572489" cy="1153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23" tIns="122123" rIns="122123" bIns="12212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Sourcing</a:t>
          </a:r>
          <a:r>
            <a:rPr lang="en-US" sz="1400" kern="1200" dirty="0"/>
            <a:t> — responsibly sourced, low-embodied-carbon materials (certified wood, recycled/bio-based inputs, low-impact finishes), with supplier-level carbon data where available.</a:t>
          </a:r>
        </a:p>
      </dsp:txBody>
      <dsp:txXfrm>
        <a:off x="1332089" y="2411"/>
        <a:ext cx="3572489" cy="1153914"/>
      </dsp:txXfrm>
    </dsp:sp>
    <dsp:sp modelId="{36C11882-F3E1-4768-BE45-77367A74A089}">
      <dsp:nvSpPr>
        <dsp:cNvPr id="0" name=""/>
        <dsp:cNvSpPr/>
      </dsp:nvSpPr>
      <dsp:spPr>
        <a:xfrm>
          <a:off x="0" y="1384661"/>
          <a:ext cx="5045717" cy="1152787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E34D13-4C1E-4384-981A-A1773E28BB28}">
      <dsp:nvSpPr>
        <dsp:cNvPr id="0" name=""/>
        <dsp:cNvSpPr/>
      </dsp:nvSpPr>
      <dsp:spPr>
        <a:xfrm>
          <a:off x="348718" y="1658632"/>
          <a:ext cx="634652" cy="6340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4DF32-4824-48DE-9F59-D5ADEA4A32DB}">
      <dsp:nvSpPr>
        <dsp:cNvPr id="0" name=""/>
        <dsp:cNvSpPr/>
      </dsp:nvSpPr>
      <dsp:spPr>
        <a:xfrm>
          <a:off x="1332089" y="1399255"/>
          <a:ext cx="3572489" cy="1153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23" tIns="122123" rIns="122123" bIns="12212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Manufacturing</a:t>
          </a:r>
          <a:r>
            <a:rPr lang="en-US" sz="1400" kern="1200" dirty="0"/>
            <a:t> — energy-efficient production (renewable energy use, waste reduction, optimized cut yields) tracked against a per-unit carbon baseline.</a:t>
          </a:r>
        </a:p>
      </dsp:txBody>
      <dsp:txXfrm>
        <a:off x="1332089" y="1399255"/>
        <a:ext cx="3572489" cy="1153914"/>
      </dsp:txXfrm>
    </dsp:sp>
    <dsp:sp modelId="{A379420E-2809-4327-BEA6-1985DC4281AB}">
      <dsp:nvSpPr>
        <dsp:cNvPr id="0" name=""/>
        <dsp:cNvSpPr/>
      </dsp:nvSpPr>
      <dsp:spPr>
        <a:xfrm>
          <a:off x="0" y="2796098"/>
          <a:ext cx="5045717" cy="1152787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B0AC9-C046-4A3E-A1EE-BB812BE801C5}">
      <dsp:nvSpPr>
        <dsp:cNvPr id="0" name=""/>
        <dsp:cNvSpPr/>
      </dsp:nvSpPr>
      <dsp:spPr>
        <a:xfrm>
          <a:off x="348718" y="3055476"/>
          <a:ext cx="634652" cy="6340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710EA1-1561-4EC9-BBC0-3AE93B090CD9}">
      <dsp:nvSpPr>
        <dsp:cNvPr id="0" name=""/>
        <dsp:cNvSpPr/>
      </dsp:nvSpPr>
      <dsp:spPr>
        <a:xfrm>
          <a:off x="1332089" y="2796098"/>
          <a:ext cx="3572489" cy="1153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123" tIns="122123" rIns="122123" bIns="12212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Durability &amp; Design </a:t>
          </a:r>
          <a:r>
            <a:rPr lang="en-US" sz="1400" kern="1200" dirty="0"/>
            <a:t>— products engineered for long service life, modularity, and ease of repair, reducing replacement-driven emissions over time.</a:t>
          </a:r>
        </a:p>
      </dsp:txBody>
      <dsp:txXfrm>
        <a:off x="1332089" y="2796098"/>
        <a:ext cx="3572489" cy="1153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B463C-0653-4F75-A9BA-CCB6A37CC44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655E0-BDA1-41D9-A53E-CB2EA1863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1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304C8-E143-E4EB-F8E9-F289A7138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3EB6C-2027-D146-FC22-216BF84C0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DC846-93FA-4F3A-5058-FAE18E7C7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F3659-4321-8CF0-95D1-AC2B183EEF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032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EA38-4150-65A4-1819-262206C0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55BA6-2676-22FF-4A79-F65C4C18E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F71FD-9D06-3FD6-7648-B8144E1B9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134B0-77FB-DBF0-AB06-CD6B44CD5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5FB2D0-2A9B-4AFC-9409-319DDC4225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702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49B0-1C9F-EB67-E078-553A9BFDB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1BE27-0A96-45EB-EF4E-7A8A40457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B18D3-EE50-8688-E981-7BA125721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8034E-E134-A126-454F-D21DC79ED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5FB2D0-2A9B-4AFC-9409-319DDC4225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829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2FF81-51EE-9A64-19AA-E20BCECFF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C29CE-A270-B627-0D3B-DF8053F91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D313B-BC74-543B-0801-C5AA69D66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58F4F-5619-3F5D-62F4-55FE0B1C1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5FB2D0-2A9B-4AFC-9409-319DDC4225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2895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5E3EC-3815-5E9D-7B61-31D6CAE1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41441-DEEE-BBFB-9AD3-4A2A5687C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9629B-FC57-C939-E719-DA4BA0B00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A88D7-9F03-B304-B855-FFFB12F8F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5FB2D0-2A9B-4AFC-9409-319DDC4225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428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0D4B-5EAA-A8DE-9969-CBEEB05F6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16E43-A6C9-FD47-0151-E4E4F7DA3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5A915-2E72-4383-05B2-A39638A39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F6D11-DE95-271F-B073-41356E39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F2C0B-B1E3-102B-EA62-7942F647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2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66B7-28E8-B393-4847-412F6742F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ABE25-3915-B587-0EF3-63C042AD3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218AF-16AF-176C-13B9-708944201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AF7A0-5E16-5C21-8E92-4410CC65D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52715-FB40-3865-899F-068B7A2F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590DD-C59D-97A3-AE00-A1810A379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F7D5A-0B63-A7CA-3ED8-0696BAC7A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4F4C9-03F9-6A66-FF4F-A120F415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4841D-C88B-854F-F9B6-93489B973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5609E-D454-2458-85B8-CE90137E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61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AADF1-E47E-D47A-5811-28B68B9C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D9640-2E58-8339-3C4E-6DF4C0237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CF169-26ED-5351-A967-C4F16F86B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05922-3F01-0EC2-E3C0-50DB3277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1F73C-139A-67D8-D7AF-139013EDF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27A9E-C23D-B0C9-3D0F-54B424DF5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7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B4E6C-756F-BB30-39D4-3531B36F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EEDC4-F8B0-8411-DEAF-D12401C8E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3AA42-4EEC-097D-36CC-C89534B39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66A3D-59FF-AA7F-ACF3-3600BD57E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2A41E-4C25-303D-0D49-A5703A6CE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971A9-E9A0-9F2A-A66D-D15E4FF4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ADD46-648F-785E-178A-08FC8D4C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1BA41A-C37D-044F-F022-50DD3B2B3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95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3E3C6-D1A1-A403-1A45-4096E04E4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F3C31B-8DF4-7A42-0862-D388E4EF6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C29786-C7A7-AB28-0EFE-29A66EBF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8515E-CD6C-6041-D19B-CCF0B0EA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61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858614-C42B-E8D6-BDFF-8C707F06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73EC54-1F4F-6072-F742-63898BAB2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09362-1A59-EC2E-984A-008B4FAA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03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FC13-3D39-F375-4AB1-497205536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306EA-50EB-A66E-878B-909AFB776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3BDDA-71D0-C9E7-A2CA-1850ABD7C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BE61B-4A80-8273-DB27-790EC905F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68EF2-E464-3629-160C-10698BCD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192E1-5945-96D7-7455-FC0C1CBC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8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64718-FE56-967F-21DC-09C289481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7CCEE-1B3A-F9CC-512E-DBA7DD9C2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31605-540E-112C-1BC0-E4970E7BA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D3F0E-72A9-65DD-8CA1-40644FB6E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61251-9675-14B6-D555-DC2B7ABA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D782E-AC99-5E89-6178-ECE912CBD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1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0406D-8454-FC22-E01F-615EF35B2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92DCB-9E59-AE6F-8A1C-6ECD47233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2A18B-DAD6-3BC7-9A3E-32ED31B9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E6C05-099D-2E76-F684-BB20FC834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B808E-6386-CE00-6680-0BB2F5149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11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E9FA17-4340-FA29-74D0-39693EE05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F1609-F604-9EB7-2F02-E1D3CF089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CED97-6740-B787-9CAE-DD81003E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7D065-41D2-2D7E-EEA2-A694610F7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AE7EC-11C7-0389-EB64-B9136B82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09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0858500" cy="6858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02920" y="320040"/>
            <a:ext cx="5260311" cy="153275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2400" b="1">
                <a:solidFill>
                  <a:schemeClr val="bg1"/>
                </a:solidFill>
              </a:defRPr>
            </a:lvl1pPr>
            <a:lvl2pPr marL="0" indent="0" algn="l">
              <a:buNone/>
              <a:defRPr sz="2000" b="0">
                <a:solidFill>
                  <a:schemeClr val="bg1"/>
                </a:solidFill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7065072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382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858614-C42B-E8D6-BDFF-8C707F06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73EC54-1F4F-6072-F742-63898BAB2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09362-1A59-EC2E-984A-008B4FAA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1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11F9C2-58B1-D501-C49D-E5B149F2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05DF8-F956-145D-C06A-3565D2990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27669-7ED7-4B89-030D-59C622A2E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35B9D-DD4E-42AD-B545-95A51443104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A187B-BB81-EF2C-04A2-F996593A3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68603-0B12-44AE-B2C0-3E55F7831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DF04A-9621-49FF-9563-200563479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3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890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png"/><Relationship Id="rId18" Type="http://schemas.openxmlformats.org/officeDocument/2006/relationships/image" Target="../media/image23.jpeg"/><Relationship Id="rId26" Type="http://schemas.openxmlformats.org/officeDocument/2006/relationships/image" Target="../media/image30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hyperlink" Target="https://freesvg.org/e-mail-simple-sign" TargetMode="External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jpe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3328"/>
            </a:gs>
            <a:gs pos="100000">
              <a:srgbClr val="0D1F17"/>
            </a:gs>
          </a:gsLst>
          <a:lin ang="2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5506B8-B59F-3262-754F-B1D53B5B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lorBlob">
            <a:extLst>
              <a:ext uri="{FF2B5EF4-FFF2-40B4-BE49-F238E27FC236}">
                <a16:creationId xmlns:a16="http://schemas.microsoft.com/office/drawing/2014/main" id="{75543F49-DAB7-41F4-BBAE-14F0557D6FCD}"/>
              </a:ext>
            </a:extLst>
          </p:cNvPr>
          <p:cNvSpPr/>
          <p:nvPr/>
        </p:nvSpPr>
        <p:spPr>
          <a:xfrm>
            <a:off x="7112000" y="2794000"/>
            <a:ext cx="2794000" cy="2794000"/>
          </a:xfrm>
          <a:prstGeom prst="ellipse">
            <a:avLst/>
          </a:prstGeom>
          <a:solidFill>
            <a:srgbClr val="C98F4E">
              <a:alpha val="8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ColorBlob">
            <a:extLst>
              <a:ext uri="{FF2B5EF4-FFF2-40B4-BE49-F238E27FC236}">
                <a16:creationId xmlns:a16="http://schemas.microsoft.com/office/drawing/2014/main" id="{6B51C710-85E9-4924-B29E-7A6A61BE1A6F}"/>
              </a:ext>
            </a:extLst>
          </p:cNvPr>
          <p:cNvSpPr/>
          <p:nvPr/>
        </p:nvSpPr>
        <p:spPr>
          <a:xfrm>
            <a:off x="9144000" y="3302000"/>
            <a:ext cx="2921000" cy="2921000"/>
          </a:xfrm>
          <a:prstGeom prst="ellipse">
            <a:avLst/>
          </a:prstGeom>
          <a:solidFill>
            <a:srgbClr val="7FA87F">
              <a:alpha val="77647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ColorBlob">
            <a:extLst>
              <a:ext uri="{FF2B5EF4-FFF2-40B4-BE49-F238E27FC236}">
                <a16:creationId xmlns:a16="http://schemas.microsoft.com/office/drawing/2014/main" id="{A5F225C2-147F-4865-B765-AB8250E008CF}"/>
              </a:ext>
            </a:extLst>
          </p:cNvPr>
          <p:cNvSpPr/>
          <p:nvPr/>
        </p:nvSpPr>
        <p:spPr>
          <a:xfrm>
            <a:off x="7556500" y="508000"/>
            <a:ext cx="4572000" cy="4572000"/>
          </a:xfrm>
          <a:prstGeom prst="ellipse">
            <a:avLst/>
          </a:prstGeom>
          <a:solidFill>
            <a:srgbClr val="26493A">
              <a:alpha val="71765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4DC7A74-F708-697A-EFEB-3FC6E79C33FF}"/>
              </a:ext>
            </a:extLst>
          </p:cNvPr>
          <p:cNvSpPr/>
          <p:nvPr/>
        </p:nvSpPr>
        <p:spPr>
          <a:xfrm>
            <a:off x="548640" y="1864360"/>
            <a:ext cx="457200" cy="457200"/>
          </a:xfrm>
          <a:prstGeom prst="ellipse">
            <a:avLst/>
          </a:prstGeom>
          <a:solidFill>
            <a:srgbClr val="6B8F7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/home/claude/carbon_slide/leaf.png">
            <a:extLst>
              <a:ext uri="{FF2B5EF4-FFF2-40B4-BE49-F238E27FC236}">
                <a16:creationId xmlns:a16="http://schemas.microsoft.com/office/drawing/2014/main" id="{D67B41BB-04BE-127F-E0F6-8CBEA297B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74088"/>
            <a:ext cx="237744" cy="237744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74EFCD33-DD19-0597-0C4D-216F8AC99B80}"/>
              </a:ext>
            </a:extLst>
          </p:cNvPr>
          <p:cNvSpPr txBox="1"/>
          <p:nvPr/>
        </p:nvSpPr>
        <p:spPr>
          <a:xfrm>
            <a:off x="1325880" y="1635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Team-</a:t>
            </a:r>
            <a:r>
              <a:rPr kumimoji="0" lang="en-US" sz="4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DreamSync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48EBF79-D708-7031-5B5F-5E6E8D561BE9}"/>
              </a:ext>
            </a:extLst>
          </p:cNvPr>
          <p:cNvSpPr txBox="1"/>
          <p:nvPr/>
        </p:nvSpPr>
        <p:spPr>
          <a:xfrm>
            <a:off x="777240" y="3086354"/>
            <a:ext cx="6217920" cy="1144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C9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systems meet sustainability</a:t>
            </a: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E485DFBC-254E-79AF-891A-19D71FDEFD0E}"/>
              </a:ext>
            </a:extLst>
          </p:cNvPr>
          <p:cNvSpPr txBox="1"/>
          <p:nvPr/>
        </p:nvSpPr>
        <p:spPr>
          <a:xfrm>
            <a:off x="548640" y="6263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50" normalizeH="0" baseline="0" noProof="0" dirty="0">
                <a:ln>
                  <a:noFill/>
                </a:ln>
                <a:solidFill>
                  <a:srgbClr val="C9DD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FOR GOOD HACKATHON · DREAMFORCE 2026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9">
            <a:extLst>
              <a:ext uri="{FF2B5EF4-FFF2-40B4-BE49-F238E27FC236}">
                <a16:creationId xmlns:a16="http://schemas.microsoft.com/office/drawing/2014/main" id="{0079D53A-2338-76D8-125A-1394B1E50EB0}"/>
              </a:ext>
            </a:extLst>
          </p:cNvPr>
          <p:cNvSpPr txBox="1"/>
          <p:nvPr/>
        </p:nvSpPr>
        <p:spPr>
          <a:xfrm>
            <a:off x="777240" y="4051606"/>
            <a:ext cx="5491358" cy="4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50" dirty="0">
                <a:solidFill>
                  <a:srgbClr val="C9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Ivy</a:t>
            </a:r>
            <a:r>
              <a:rPr lang="en-US" sz="1200" kern="0" spc="50" dirty="0">
                <a:solidFill>
                  <a:srgbClr val="C9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An AI agent that tracks, reduces, and reports your carbon footprint in real time.</a:t>
            </a:r>
          </a:p>
        </p:txBody>
      </p:sp>
      <p:sp>
        <p:nvSpPr>
          <p:cNvPr id="8" name="KickerPill">
            <a:extLst>
              <a:ext uri="{FF2B5EF4-FFF2-40B4-BE49-F238E27FC236}">
                <a16:creationId xmlns:a16="http://schemas.microsoft.com/office/drawing/2014/main" id="{E30A3DA5-E565-4C24-A7E7-E7C193B8494F}"/>
              </a:ext>
            </a:extLst>
          </p:cNvPr>
          <p:cNvSpPr/>
          <p:nvPr/>
        </p:nvSpPr>
        <p:spPr>
          <a:xfrm>
            <a:off x="1325880" y="1181100"/>
            <a:ext cx="5461000" cy="317500"/>
          </a:xfrm>
          <a:prstGeom prst="roundRect">
            <a:avLst/>
          </a:prstGeom>
          <a:solidFill>
            <a:srgbClr val="E8DCC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100" b="1" dirty="0">
                <a:solidFill>
                  <a:srgbClr val="1B3B2F"/>
                </a:solidFill>
              </a:rPr>
              <a:t>EARTHFORCE TRACK · 1 OF 16 SALESFORCE EQUALITY GROUPS</a:t>
            </a:r>
          </a:p>
        </p:txBody>
      </p:sp>
      <p:sp>
        <p:nvSpPr>
          <p:cNvPr id="12" name="Divider1">
            <a:extLst>
              <a:ext uri="{FF2B5EF4-FFF2-40B4-BE49-F238E27FC236}">
                <a16:creationId xmlns:a16="http://schemas.microsoft.com/office/drawing/2014/main" id="{9F79348A-E513-4FF7-9F1B-D3C7CE66B8FF}"/>
              </a:ext>
            </a:extLst>
          </p:cNvPr>
          <p:cNvSpPr/>
          <p:nvPr/>
        </p:nvSpPr>
        <p:spPr>
          <a:xfrm>
            <a:off x="777240" y="3810000"/>
            <a:ext cx="3810000" cy="19050"/>
          </a:xfrm>
          <a:prstGeom prst="rect">
            <a:avLst/>
          </a:prstGeom>
          <a:solidFill>
            <a:srgbClr val="C98F4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FooterRule">
            <a:extLst>
              <a:ext uri="{FF2B5EF4-FFF2-40B4-BE49-F238E27FC236}">
                <a16:creationId xmlns:a16="http://schemas.microsoft.com/office/drawing/2014/main" id="{5FA703A3-8D45-488B-821A-BB9DC40A5995}"/>
              </a:ext>
            </a:extLst>
          </p:cNvPr>
          <p:cNvSpPr/>
          <p:nvPr/>
        </p:nvSpPr>
        <p:spPr>
          <a:xfrm>
            <a:off x="548640" y="6159500"/>
            <a:ext cx="10916920" cy="12700"/>
          </a:xfrm>
          <a:prstGeom prst="rect">
            <a:avLst/>
          </a:prstGeom>
          <a:solidFill>
            <a:srgbClr val="4A6B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GlobeGlow">
            <a:extLst>
              <a:ext uri="{FF2B5EF4-FFF2-40B4-BE49-F238E27FC236}">
                <a16:creationId xmlns:a16="http://schemas.microsoft.com/office/drawing/2014/main" id="{F611A319-97AA-4B71-9E49-0562ED08EEEA}"/>
              </a:ext>
            </a:extLst>
          </p:cNvPr>
          <p:cNvSpPr/>
          <p:nvPr/>
        </p:nvSpPr>
        <p:spPr>
          <a:xfrm>
            <a:off x="8966200" y="2540000"/>
            <a:ext cx="2032000" cy="2032000"/>
          </a:xfrm>
          <a:prstGeom prst="ellipse">
            <a:avLst/>
          </a:prstGeom>
          <a:solidFill>
            <a:srgbClr val="8FBF6B">
              <a:alpha val="29804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AccentBar">
            <a:extLst>
              <a:ext uri="{FF2B5EF4-FFF2-40B4-BE49-F238E27FC236}">
                <a16:creationId xmlns:a16="http://schemas.microsoft.com/office/drawing/2014/main" id="{AF0CE4F0-3E67-4DF8-A042-20456587FFC8}"/>
              </a:ext>
            </a:extLst>
          </p:cNvPr>
          <p:cNvSpPr/>
          <p:nvPr/>
        </p:nvSpPr>
        <p:spPr>
          <a:xfrm>
            <a:off x="38100" y="38100"/>
            <a:ext cx="177800" cy="6781800"/>
          </a:xfrm>
          <a:prstGeom prst="rect">
            <a:avLst/>
          </a:prstGeom>
          <a:solidFill>
            <a:srgbClr val="C98F4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pic>
        <p:nvPicPr>
          <p:cNvPr id="27" name="Graphic 27" descr="Colorful earth globe representing sustain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9200" y="2413000"/>
            <a:ext cx="2032000" cy="2032000"/>
          </a:xfrm>
          <a:prstGeom prst="rect">
            <a:avLst/>
          </a:prstGeom>
        </p:spPr>
      </p:pic>
      <p:sp>
        <p:nvSpPr>
          <p:cNvPr id="19" name="LeafBadgeBack">
            <a:extLst>
              <a:ext uri="{FF2B5EF4-FFF2-40B4-BE49-F238E27FC236}">
                <a16:creationId xmlns:a16="http://schemas.microsoft.com/office/drawing/2014/main" id="{7C9108C2-E7C0-483A-912E-305F5046EC90}"/>
              </a:ext>
            </a:extLst>
          </p:cNvPr>
          <p:cNvSpPr/>
          <p:nvPr/>
        </p:nvSpPr>
        <p:spPr>
          <a:xfrm>
            <a:off x="10160000" y="3810000"/>
            <a:ext cx="762000" cy="762000"/>
          </a:xfrm>
          <a:prstGeom prst="ellipse">
            <a:avLst/>
          </a:prstGeom>
          <a:solidFill>
            <a:srgbClr val="C98F4E"/>
          </a:solidFill>
          <a:ln w="25400" cap="flat" cmpd="sng" algn="ctr">
            <a:solidFill>
              <a:srgbClr val="FFD1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pic>
        <p:nvPicPr>
          <p:cNvPr id="28" name="Graphic 28" descr="Leaf accent badge overlapping the glob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2400" y="39624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8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A8876-5822-25DB-5736-375296DA3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6CDD46-F1D6-4005-B2E0-E779F9A9F710}"/>
              </a:ext>
            </a:extLst>
          </p:cNvPr>
          <p:cNvSpPr txBox="1"/>
          <p:nvPr/>
        </p:nvSpPr>
        <p:spPr>
          <a:xfrm>
            <a:off x="254467" y="746269"/>
            <a:ext cx="11070672" cy="57906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0" defTabSz="1219170">
              <a:spcBef>
                <a:spcPts val="0"/>
              </a:spcBef>
              <a:spcAft>
                <a:spcPts val="1333"/>
              </a:spcAft>
              <a:buSzPct val="100000"/>
              <a:buFont typeface="Arial" panose="020B0604020202020204" pitchFamily="34" charset="0"/>
              <a:buNone/>
              <a:defRPr sz="1500" b="0"/>
            </a:lvl1pPr>
            <a:lvl2pPr marL="0" indent="0" defTabSz="1219170"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lang="en-US" sz="1500" b="1"/>
            </a:lvl2pPr>
            <a:lvl3pPr marL="235194" indent="-235194" defTabSz="1219170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 lang="en-US" sz="1500"/>
            </a:lvl3pPr>
            <a:lvl4pPr marL="475188" indent="-235194" defTabSz="1219170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500" baseline="0"/>
            </a:lvl4pPr>
            <a:lvl5pPr marL="710382" indent="-235194" defTabSz="1064657">
              <a:spcBef>
                <a:spcPts val="0"/>
              </a:spcBef>
              <a:spcAft>
                <a:spcPts val="1333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500" baseline="0"/>
            </a:lvl5pPr>
            <a:lvl6pPr marL="710382" indent="-235194" defTabSz="1219170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2133" baseline="0"/>
            </a:lvl6pPr>
            <a:lvl7pPr marL="710382" indent="-235194" defTabSz="1219170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2133"/>
            </a:lvl7pPr>
            <a:lvl8pPr marL="710382" indent="-235194" defTabSz="1219170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2133" baseline="0"/>
            </a:lvl8pPr>
            <a:lvl9pPr marL="710382" indent="-235194" defTabSz="1219170">
              <a:spcBef>
                <a:spcPts val="0"/>
              </a:spcBef>
              <a:spcAft>
                <a:spcPts val="1333"/>
              </a:spcAft>
              <a:buFont typeface="Verdana" panose="020B0604030504040204" pitchFamily="34" charset="0"/>
              <a:buChar char="−"/>
              <a:defRPr sz="2133" baseline="0"/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lang="en-US" sz="1400" b="1">
              <a:solidFill>
                <a:prstClr val="black"/>
              </a:solidFill>
              <a:latin typeface="Calibri" panose="020F0502020204030204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BAFF3-9278-2719-7D63-58073607A81C}"/>
              </a:ext>
            </a:extLst>
          </p:cNvPr>
          <p:cNvSpPr txBox="1">
            <a:spLocks/>
          </p:cNvSpPr>
          <p:nvPr/>
        </p:nvSpPr>
        <p:spPr>
          <a:xfrm>
            <a:off x="226612" y="144097"/>
            <a:ext cx="11738775" cy="60217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b="1" dirty="0">
                <a:solidFill>
                  <a:schemeClr val="accent3"/>
                </a:solidFill>
                <a:latin typeface="Aptos" panose="020B0004020202020204" pitchFamily="34" charset="0"/>
              </a:rPr>
              <a:t>PROJECT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ptos" panose="020B0004020202020204" pitchFamily="34" charset="0"/>
              </a:rPr>
              <a:t> INTRO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A517B8-B1F6-0687-6515-44D5D1B1E38B}"/>
              </a:ext>
            </a:extLst>
          </p:cNvPr>
          <p:cNvSpPr txBox="1"/>
          <p:nvPr/>
        </p:nvSpPr>
        <p:spPr>
          <a:xfrm>
            <a:off x="254466" y="746268"/>
            <a:ext cx="107183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“We are </a:t>
            </a:r>
            <a:r>
              <a:rPr lang="en-US" b="1" i="1" dirty="0" err="1"/>
              <a:t>Earthique</a:t>
            </a:r>
            <a:r>
              <a:rPr lang="en-US" b="1" i="1" dirty="0"/>
              <a:t> Homes </a:t>
            </a:r>
            <a:r>
              <a:rPr lang="en-US" dirty="0"/>
              <a:t>— deliver high-quality furniture with a measurably lower carbon footprint across its lifecycle—from responsible material sourcing and efficient manufacturing to durable design, repair, reuse, and end-of-life recovery. The goal is to reduce embodied carbon while creating products that perform, endure, and support a more circular future.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C5B823-3574-0355-395A-D22A2A67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07"/>
          <a:stretch>
            <a:fillRect/>
          </a:stretch>
        </p:blipFill>
        <p:spPr>
          <a:xfrm>
            <a:off x="5450547" y="2677388"/>
            <a:ext cx="6265896" cy="290615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028" name="TextBox 5">
            <a:extLst>
              <a:ext uri="{FF2B5EF4-FFF2-40B4-BE49-F238E27FC236}">
                <a16:creationId xmlns:a16="http://schemas.microsoft.com/office/drawing/2014/main" id="{B3EDFDE4-2339-847F-3104-D59B585260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0410997"/>
              </p:ext>
            </p:extLst>
          </p:nvPr>
        </p:nvGraphicFramePr>
        <p:xfrm>
          <a:off x="176277" y="2159306"/>
          <a:ext cx="5045718" cy="3952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FooterText">
            <a:extLst>
              <a:ext uri="{FF2B5EF4-FFF2-40B4-BE49-F238E27FC236}">
                <a16:creationId xmlns:a16="http://schemas.microsoft.com/office/drawing/2014/main" id="{FBD96DC6-FDD3-4D09-87CC-362F76195995}"/>
              </a:ext>
            </a:extLst>
          </p:cNvPr>
          <p:cNvSpPr txBox="1"/>
          <p:nvPr/>
        </p:nvSpPr>
        <p:spPr>
          <a:xfrm>
            <a:off x="546100" y="6604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000" b="1">
                <a:solidFill>
                  <a:srgbClr val="26493A"/>
                </a:solidFill>
                <a:latin typeface="Calibri"/>
                <a:ea typeface="Calibri"/>
                <a:cs typeface="Calibri"/>
              </a:rPr>
              <a:t>AGENTFORCE FOR GOOD HACKATHON · DREAMFORCE 2026</a:t>
            </a:r>
            <a:endParaRPr lang="en-IN" sz="1000" b="1">
              <a:solidFill>
                <a:srgbClr val="26493A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520803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02CE8-43A0-54BE-4D54-B81C15F64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103BF-69E9-FEC5-EDF8-C6BF6C709BF3}"/>
              </a:ext>
            </a:extLst>
          </p:cNvPr>
          <p:cNvSpPr txBox="1">
            <a:spLocks/>
          </p:cNvSpPr>
          <p:nvPr/>
        </p:nvSpPr>
        <p:spPr>
          <a:xfrm>
            <a:off x="572493" y="238539"/>
            <a:ext cx="10587594" cy="114777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marL="0" marR="0" lvl="0" indent="0" fontAlgn="auto"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24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Use Case Theme: </a:t>
            </a:r>
          </a:p>
          <a:p>
            <a:pPr marL="0" marR="0" lvl="0" indent="0" fontAlgn="auto"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2400" b="1" i="1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Accelerating Sustainability: Conscious Choices. Elevated by Design. Enduring Value.</a:t>
            </a:r>
          </a:p>
        </p:txBody>
      </p:sp>
      <p:sp>
        <p:nvSpPr>
          <p:cNvPr id="103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Process 129">
            <a:extLst>
              <a:ext uri="{FF2B5EF4-FFF2-40B4-BE49-F238E27FC236}">
                <a16:creationId xmlns:a16="http://schemas.microsoft.com/office/drawing/2014/main" id="{A92720C3-CBD4-5C31-14FC-7CC4AD0C6B78}"/>
              </a:ext>
            </a:extLst>
          </p:cNvPr>
          <p:cNvSpPr/>
          <p:nvPr/>
        </p:nvSpPr>
        <p:spPr bwMode="auto">
          <a:xfrm>
            <a:off x="418064" y="1699832"/>
            <a:ext cx="11551431" cy="5231320"/>
          </a:xfrm>
          <a:prstGeom prst="flowChartProcess">
            <a:avLst/>
          </a:prstGeom>
        </p:spPr>
        <p:txBody>
          <a:bodyPr vert="horz" lIns="91440" tIns="45720" rIns="91440" bIns="45720" numCol="1" spcCol="182880" rtlCol="0" anchor="t" anchorCtr="0" compatLnSpc="1">
            <a:prstTxWarp prst="textNoShape">
              <a:avLst/>
            </a:prstTxWarp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u="sng" dirty="0"/>
              <a:t>PROBLEM STATEMENT</a:t>
            </a:r>
            <a:br>
              <a:rPr lang="en-US" sz="1400" b="1" dirty="0"/>
            </a:br>
            <a:r>
              <a:rPr lang="en-US" sz="1400" dirty="0"/>
              <a:t>Many home-furnishings companies struggle to effectively track and reduce their product and supply-chain carbon emissions:</a:t>
            </a:r>
            <a:endParaRPr lang="en-US" sz="1400" b="1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rgbClr val="0097A9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Emissions data is siloed across BOMs, suppliers, and shipments, making it hard to get a full picture.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rgbClr val="0097A9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Design and logistics teams often lack immediate visibility into product-level and shipment-level carbon hotspots.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rgbClr val="0097A9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Business needs automated, auditable sustainability reporting to track performance and meet stakeholder expectations.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u="sng" dirty="0"/>
              <a:t>PROPOSED SOLUTION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rgbClr val="0097A9"/>
              </a:buClr>
              <a:buFont typeface="Arial" panose="020B0604020202020204" pitchFamily="34" charset="0"/>
              <a:buChar char="•"/>
            </a:pPr>
            <a:r>
              <a:rPr lang="en-US" sz="1400" b="1" dirty="0"/>
              <a:t>Unified Emissions Platform:</a:t>
            </a:r>
            <a:r>
              <a:rPr lang="en-US" sz="1400" dirty="0"/>
              <a:t> Integrate all SKU, supplier, and shipment data within Salesforce Data Cloud for a holistic carbon view.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rgbClr val="0097A9"/>
              </a:buClr>
              <a:buFont typeface="Arial" panose="020B0604020202020204" pitchFamily="34" charset="0"/>
              <a:buChar char="•"/>
            </a:pPr>
            <a:r>
              <a:rPr lang="en-US" sz="1400" b="1" dirty="0"/>
              <a:t>Agent-Driven Insights: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Clr>
                <a:srgbClr val="0097A9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Product Emissions Agent calculates and compares </a:t>
            </a:r>
            <a:r>
              <a:rPr lang="en-US" sz="1400" dirty="0" err="1"/>
              <a:t>CO₂e</a:t>
            </a:r>
            <a:r>
              <a:rPr lang="en-US" sz="1400" dirty="0"/>
              <a:t> for each SKU, offering “what-if” changes for greener design.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Clr>
                <a:srgbClr val="0097A9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Supply-Chain Emissions Agent monitors and flags high-emission shipments, recommending more sustainable logistics alternatives.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Clr>
                <a:srgbClr val="0097A9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Predictive Agent auto-generates real-time executive dashboards, KPI tiles, and audit logs for transparent, </a:t>
            </a:r>
            <a:br>
              <a:rPr lang="en-US" sz="1400" dirty="0"/>
            </a:br>
            <a:r>
              <a:rPr lang="en-US" sz="1400" dirty="0"/>
              <a:t>actionable reporting.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Clr>
                <a:srgbClr val="0097A9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Helps in Carbon Consultation by setting up calendar invites for B2C.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u="sng" dirty="0"/>
              <a:t>OUTCOME</a:t>
            </a:r>
            <a:r>
              <a:rPr lang="en-US" sz="1400" dirty="0"/>
              <a:t> 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Clr>
                <a:srgbClr val="0097A9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Helps business to confidently measure, reduce, and report on their carbon performance—product by product, shipment by shipment—strengthening their sustainability leadership.</a:t>
            </a:r>
            <a:br>
              <a:rPr lang="en-US" sz="1400" b="1" dirty="0"/>
            </a:br>
            <a:endParaRPr lang="en-US" sz="14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u="sng" dirty="0"/>
              <a:t>TOOL(S) NEEDED TO BRING IDEA TO LIFE:</a:t>
            </a:r>
            <a:r>
              <a:rPr lang="en-US" sz="1400" b="1" dirty="0"/>
              <a:t>  </a:t>
            </a:r>
            <a:r>
              <a:rPr lang="en-US" sz="1400" dirty="0"/>
              <a:t>Salesforce Data Cloud, CRM, Agentforce, Agentforce Voice, Meta</a:t>
            </a:r>
          </a:p>
        </p:txBody>
      </p:sp>
    </p:spTree>
    <p:extLst>
      <p:ext uri="{BB962C8B-B14F-4D97-AF65-F5344CB8AC3E}">
        <p14:creationId xmlns:p14="http://schemas.microsoft.com/office/powerpoint/2010/main" val="18275757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1F3FD-AED5-8422-4B77-2AC33C9A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0" name="Picture 1179">
            <a:extLst>
              <a:ext uri="{FF2B5EF4-FFF2-40B4-BE49-F238E27FC236}">
                <a16:creationId xmlns:a16="http://schemas.microsoft.com/office/drawing/2014/main" id="{64ACA68A-7174-FFFD-EDDD-08EEC2EB8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888" y="4079224"/>
            <a:ext cx="539848" cy="513201"/>
          </a:xfrm>
          <a:prstGeom prst="rect">
            <a:avLst/>
          </a:prstGeom>
        </p:spPr>
      </p:pic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44F15B4A-370D-6E86-2A16-B8E2DD8CF5D4}"/>
              </a:ext>
            </a:extLst>
          </p:cNvPr>
          <p:cNvSpPr/>
          <p:nvPr/>
        </p:nvSpPr>
        <p:spPr>
          <a:xfrm>
            <a:off x="316386" y="556251"/>
            <a:ext cx="2042664" cy="1311955"/>
          </a:xfrm>
          <a:prstGeom prst="flowChartDocument">
            <a:avLst/>
          </a:prstGeom>
          <a:solidFill>
            <a:schemeClr val="accent6">
              <a:lumMod val="20000"/>
              <a:lumOff val="8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Jacob, a Manufacturer who is sad seeking help from multiple people, websites to gather the info on the  Co2e emission on the products/materials/transport he plans to use in building a Sofa</a:t>
            </a:r>
          </a:p>
        </p:txBody>
      </p:sp>
      <p:pic>
        <p:nvPicPr>
          <p:cNvPr id="16" name="Picture 15" descr="A person wearing headphones and sitting at a computer&#10;&#10;Description automatically generated">
            <a:extLst>
              <a:ext uri="{FF2B5EF4-FFF2-40B4-BE49-F238E27FC236}">
                <a16:creationId xmlns:a16="http://schemas.microsoft.com/office/drawing/2014/main" id="{5A958C42-CDD9-4DDA-096F-73D8E3D738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35" y="743887"/>
            <a:ext cx="650202" cy="588755"/>
          </a:xfrm>
          <a:prstGeom prst="rect">
            <a:avLst/>
          </a:prstGeom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AC48763-E512-61B2-6E62-988FD9A9AE11}"/>
              </a:ext>
            </a:extLst>
          </p:cNvPr>
          <p:cNvCxnSpPr>
            <a:cxnSpLocks/>
            <a:stCxn id="14" idx="3"/>
            <a:endCxn id="31" idx="3"/>
          </p:cNvCxnSpPr>
          <p:nvPr/>
        </p:nvCxnSpPr>
        <p:spPr>
          <a:xfrm flipV="1">
            <a:off x="1563079" y="1347263"/>
            <a:ext cx="3066150" cy="898802"/>
          </a:xfrm>
          <a:prstGeom prst="bentConnector3">
            <a:avLst>
              <a:gd name="adj1" fmla="val 422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Salesforce Einstein Analytics and Discovery Consultant Certification Tips -  Cloud Galacticos">
            <a:extLst>
              <a:ext uri="{FF2B5EF4-FFF2-40B4-BE49-F238E27FC236}">
                <a16:creationId xmlns:a16="http://schemas.microsoft.com/office/drawing/2014/main" id="{1139CF0E-0EBD-AFB4-CB5E-76DE6BBCE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629229" y="969011"/>
            <a:ext cx="469312" cy="75650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298BA9F-8330-7B9B-49CB-651CB1593307}"/>
              </a:ext>
            </a:extLst>
          </p:cNvPr>
          <p:cNvCxnSpPr>
            <a:cxnSpLocks/>
            <a:stCxn id="31" idx="1"/>
          </p:cNvCxnSpPr>
          <p:nvPr/>
        </p:nvCxnSpPr>
        <p:spPr>
          <a:xfrm>
            <a:off x="5098541" y="1347263"/>
            <a:ext cx="1389701" cy="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2DDE92C-AF07-D927-368D-B345B53B30FD}"/>
              </a:ext>
            </a:extLst>
          </p:cNvPr>
          <p:cNvSpPr txBox="1"/>
          <p:nvPr/>
        </p:nvSpPr>
        <p:spPr>
          <a:xfrm>
            <a:off x="2416573" y="482209"/>
            <a:ext cx="2204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He goes to Agent- </a:t>
            </a:r>
            <a:r>
              <a:rPr lang="en-US" sz="1000" b="1" dirty="0"/>
              <a:t>Ivy</a:t>
            </a:r>
            <a:r>
              <a:rPr lang="en-US" sz="1000" dirty="0"/>
              <a:t> requests on the Co2e emission by providing the details of his product say Sofa/factors causing, prediction on the products turning from </a:t>
            </a:r>
            <a:r>
              <a:rPr lang="en-US" sz="1000" b="1" dirty="0">
                <a:solidFill>
                  <a:srgbClr val="FF0000"/>
                </a:solidFill>
              </a:rPr>
              <a:t>RED</a:t>
            </a:r>
            <a:r>
              <a:rPr lang="en-US" sz="1000" dirty="0"/>
              <a:t> to </a:t>
            </a:r>
            <a:r>
              <a:rPr lang="en-US" sz="1000" b="1" dirty="0">
                <a:solidFill>
                  <a:schemeClr val="accent6"/>
                </a:solidFill>
              </a:rPr>
              <a:t>GREEN PRODUCTS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64E509-C380-9C06-F9BE-CC8D20058EE2}"/>
              </a:ext>
            </a:extLst>
          </p:cNvPr>
          <p:cNvSpPr txBox="1"/>
          <p:nvPr/>
        </p:nvSpPr>
        <p:spPr>
          <a:xfrm>
            <a:off x="5290478" y="1675507"/>
            <a:ext cx="20900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Ivy</a:t>
            </a:r>
            <a:r>
              <a:rPr lang="en-US" sz="1000" dirty="0"/>
              <a:t>, collects the details and provides the detailed info on the emission guiding the user with alternatives, highlighting on the Max and Min emission factors, prediction of </a:t>
            </a:r>
            <a:r>
              <a:rPr lang="en-US" sz="1000" b="1" dirty="0">
                <a:solidFill>
                  <a:schemeClr val="accent6"/>
                </a:solidFill>
              </a:rPr>
              <a:t>GREEN</a:t>
            </a:r>
            <a:r>
              <a:rPr lang="en-US" sz="1000" dirty="0"/>
              <a:t> products etc.</a:t>
            </a:r>
          </a:p>
        </p:txBody>
      </p:sp>
      <p:sp>
        <p:nvSpPr>
          <p:cNvPr id="1027" name="Flowchart: Document 1026">
            <a:extLst>
              <a:ext uri="{FF2B5EF4-FFF2-40B4-BE49-F238E27FC236}">
                <a16:creationId xmlns:a16="http://schemas.microsoft.com/office/drawing/2014/main" id="{87E32DD7-F533-A93C-A966-881E9675F5D1}"/>
              </a:ext>
            </a:extLst>
          </p:cNvPr>
          <p:cNvSpPr/>
          <p:nvPr/>
        </p:nvSpPr>
        <p:spPr>
          <a:xfrm>
            <a:off x="8921040" y="245187"/>
            <a:ext cx="1167968" cy="456436"/>
          </a:xfrm>
          <a:prstGeom prst="flowChartDocument">
            <a:avLst/>
          </a:prstGeom>
          <a:solidFill>
            <a:srgbClr val="0070C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  <a:p>
            <a:r>
              <a:rPr lang="en-US" sz="1000" b="1" dirty="0">
                <a:solidFill>
                  <a:schemeClr val="tx1"/>
                </a:solidFill>
              </a:rPr>
              <a:t>Elly-Sales </a:t>
            </a:r>
            <a:r>
              <a:rPr lang="en-US" sz="1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Representative</a:t>
            </a:r>
          </a:p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FBB41B20-C8CA-8847-44B1-213B7C470BC6}"/>
              </a:ext>
            </a:extLst>
          </p:cNvPr>
          <p:cNvCxnSpPr>
            <a:cxnSpLocks/>
            <a:stCxn id="1115" idx="3"/>
          </p:cNvCxnSpPr>
          <p:nvPr/>
        </p:nvCxnSpPr>
        <p:spPr>
          <a:xfrm flipH="1" flipV="1">
            <a:off x="9996639" y="1332063"/>
            <a:ext cx="1711579" cy="3383660"/>
          </a:xfrm>
          <a:prstGeom prst="bentConnector4">
            <a:avLst>
              <a:gd name="adj1" fmla="val -13356"/>
              <a:gd name="adj2" fmla="val 1001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4F8526C3-EBE3-E17F-C48F-95E686D14582}"/>
              </a:ext>
            </a:extLst>
          </p:cNvPr>
          <p:cNvSpPr txBox="1">
            <a:spLocks/>
          </p:cNvSpPr>
          <p:nvPr/>
        </p:nvSpPr>
        <p:spPr>
          <a:xfrm>
            <a:off x="10204849" y="2130071"/>
            <a:ext cx="1822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US" dirty="0"/>
              <a:t>Conversations route to Human Agent for extended support</a:t>
            </a:r>
          </a:p>
        </p:txBody>
      </p:sp>
      <p:pic>
        <p:nvPicPr>
          <p:cNvPr id="1059" name="Google Shape;235;p20">
            <a:extLst>
              <a:ext uri="{FF2B5EF4-FFF2-40B4-BE49-F238E27FC236}">
                <a16:creationId xmlns:a16="http://schemas.microsoft.com/office/drawing/2014/main" id="{D26C66A2-B8B7-A40B-376A-C5A3BF725DB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079" y="788632"/>
            <a:ext cx="279113" cy="266415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TextBox 1061">
            <a:extLst>
              <a:ext uri="{FF2B5EF4-FFF2-40B4-BE49-F238E27FC236}">
                <a16:creationId xmlns:a16="http://schemas.microsoft.com/office/drawing/2014/main" id="{112CCC49-3251-39AC-0A8E-01413C71A15C}"/>
              </a:ext>
            </a:extLst>
          </p:cNvPr>
          <p:cNvSpPr txBox="1">
            <a:spLocks/>
          </p:cNvSpPr>
          <p:nvPr/>
        </p:nvSpPr>
        <p:spPr>
          <a:xfrm>
            <a:off x="8731879" y="1506261"/>
            <a:ext cx="14729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Agent (Service </a:t>
            </a:r>
            <a:r>
              <a:rPr lang="en-US" dirty="0"/>
              <a:t>Agent)  resolved the customer issue</a:t>
            </a:r>
          </a:p>
        </p:txBody>
      </p:sp>
      <p:sp>
        <p:nvSpPr>
          <p:cNvPr id="1076" name="Title 5">
            <a:extLst>
              <a:ext uri="{FF2B5EF4-FFF2-40B4-BE49-F238E27FC236}">
                <a16:creationId xmlns:a16="http://schemas.microsoft.com/office/drawing/2014/main" id="{C897EC83-8A22-D205-2101-F794F09926E7}"/>
              </a:ext>
            </a:extLst>
          </p:cNvPr>
          <p:cNvSpPr txBox="1">
            <a:spLocks/>
          </p:cNvSpPr>
          <p:nvPr/>
        </p:nvSpPr>
        <p:spPr>
          <a:xfrm>
            <a:off x="309261" y="82293"/>
            <a:ext cx="5259864" cy="457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 sz="2200" b="1" dirty="0">
                <a:solidFill>
                  <a:schemeClr val="accent3"/>
                </a:solidFill>
              </a:rPr>
              <a:t>Solution Architecture: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10F5EA-18E0-12BA-5F88-8B0A947CB0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3" b="7143"/>
          <a:stretch/>
        </p:blipFill>
        <p:spPr>
          <a:xfrm>
            <a:off x="558958" y="1911358"/>
            <a:ext cx="1004121" cy="6694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9" name="Picture 28" descr="A grey couch in a room&#10;&#10;AI-generated content may be incorrect.">
            <a:extLst>
              <a:ext uri="{FF2B5EF4-FFF2-40B4-BE49-F238E27FC236}">
                <a16:creationId xmlns:a16="http://schemas.microsoft.com/office/drawing/2014/main" id="{EDF9009A-3017-8637-66B8-CCC715AC16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325" y="1641064"/>
            <a:ext cx="873986" cy="5627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1AC7AEE-6089-F14D-BA65-BB06AFB3D0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3" b="7143"/>
          <a:stretch/>
        </p:blipFill>
        <p:spPr>
          <a:xfrm>
            <a:off x="6505035" y="944945"/>
            <a:ext cx="1004229" cy="6694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B301506-ED9F-7221-1D6C-1053E155B220}"/>
              </a:ext>
            </a:extLst>
          </p:cNvPr>
          <p:cNvCxnSpPr>
            <a:cxnSpLocks/>
          </p:cNvCxnSpPr>
          <p:nvPr/>
        </p:nvCxnSpPr>
        <p:spPr>
          <a:xfrm>
            <a:off x="8972744" y="1439697"/>
            <a:ext cx="966372" cy="256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21FDBF34-EFBF-52FD-2D4D-7833AA7F61B9}"/>
              </a:ext>
            </a:extLst>
          </p:cNvPr>
          <p:cNvCxnSpPr>
            <a:cxnSpLocks/>
          </p:cNvCxnSpPr>
          <p:nvPr/>
        </p:nvCxnSpPr>
        <p:spPr>
          <a:xfrm rot="10800000" flipV="1">
            <a:off x="7538298" y="1336081"/>
            <a:ext cx="1286694" cy="7901"/>
          </a:xfrm>
          <a:prstGeom prst="bentConnector3">
            <a:avLst>
              <a:gd name="adj1" fmla="val 2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Document 48">
            <a:extLst>
              <a:ext uri="{FF2B5EF4-FFF2-40B4-BE49-F238E27FC236}">
                <a16:creationId xmlns:a16="http://schemas.microsoft.com/office/drawing/2014/main" id="{07E0DB98-E431-9087-B7F8-D969314C0B85}"/>
              </a:ext>
            </a:extLst>
          </p:cNvPr>
          <p:cNvSpPr/>
          <p:nvPr/>
        </p:nvSpPr>
        <p:spPr>
          <a:xfrm>
            <a:off x="6488242" y="170069"/>
            <a:ext cx="1439730" cy="738692"/>
          </a:xfrm>
          <a:prstGeom prst="flowChartDocument">
            <a:avLst/>
          </a:prstGeom>
          <a:solidFill>
            <a:schemeClr val="accent6">
              <a:lumMod val="20000"/>
              <a:lumOff val="8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>
                <a:solidFill>
                  <a:schemeClr val="tx1">
                    <a:lumMod val="95000"/>
                    <a:lumOff val="5000"/>
                  </a:schemeClr>
                </a:solidFill>
              </a:rPr>
              <a:t>Jacob is happy as he got the much-needed help in one click!!</a:t>
            </a:r>
          </a:p>
        </p:txBody>
      </p:sp>
      <p:sp>
        <p:nvSpPr>
          <p:cNvPr id="1067" name="Rectangle: Rounded Corners 1066">
            <a:extLst>
              <a:ext uri="{FF2B5EF4-FFF2-40B4-BE49-F238E27FC236}">
                <a16:creationId xmlns:a16="http://schemas.microsoft.com/office/drawing/2014/main" id="{8C9B2BE1-99B6-15AA-75E1-3BB43E7F5B36}"/>
              </a:ext>
            </a:extLst>
          </p:cNvPr>
          <p:cNvSpPr/>
          <p:nvPr/>
        </p:nvSpPr>
        <p:spPr>
          <a:xfrm>
            <a:off x="6992620" y="3292215"/>
            <a:ext cx="845376" cy="9614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68" name="Rectangle: Rounded Corners 1067">
            <a:extLst>
              <a:ext uri="{FF2B5EF4-FFF2-40B4-BE49-F238E27FC236}">
                <a16:creationId xmlns:a16="http://schemas.microsoft.com/office/drawing/2014/main" id="{8C9E9097-B6D3-9C9B-DCB0-34F2726EFA2B}"/>
              </a:ext>
            </a:extLst>
          </p:cNvPr>
          <p:cNvSpPr/>
          <p:nvPr/>
        </p:nvSpPr>
        <p:spPr>
          <a:xfrm>
            <a:off x="137728" y="3108202"/>
            <a:ext cx="2039626" cy="231317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069" name="Google Shape;324;p21">
            <a:extLst>
              <a:ext uri="{FF2B5EF4-FFF2-40B4-BE49-F238E27FC236}">
                <a16:creationId xmlns:a16="http://schemas.microsoft.com/office/drawing/2014/main" id="{81009C2C-7C32-9900-0C90-92B35FC84A8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41467" y="3885724"/>
            <a:ext cx="377407" cy="4001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87072D38-1A0A-67E7-9376-0B08FC846CCB}"/>
              </a:ext>
            </a:extLst>
          </p:cNvPr>
          <p:cNvGrpSpPr/>
          <p:nvPr/>
        </p:nvGrpSpPr>
        <p:grpSpPr>
          <a:xfrm>
            <a:off x="2322892" y="4377721"/>
            <a:ext cx="397780" cy="467974"/>
            <a:chOff x="2441257" y="3245744"/>
            <a:chExt cx="494004" cy="629349"/>
          </a:xfrm>
        </p:grpSpPr>
        <p:pic>
          <p:nvPicPr>
            <p:cNvPr id="1071" name="Google Shape;309;p21">
              <a:extLst>
                <a:ext uri="{FF2B5EF4-FFF2-40B4-BE49-F238E27FC236}">
                  <a16:creationId xmlns:a16="http://schemas.microsoft.com/office/drawing/2014/main" id="{636B3110-C05F-10EC-869D-B6D868514AA0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 t="1653" b="1653"/>
            <a:stretch/>
          </p:blipFill>
          <p:spPr>
            <a:xfrm>
              <a:off x="2441257" y="3245744"/>
              <a:ext cx="377407" cy="400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2" name="Google Shape;309;p21">
              <a:extLst>
                <a:ext uri="{FF2B5EF4-FFF2-40B4-BE49-F238E27FC236}">
                  <a16:creationId xmlns:a16="http://schemas.microsoft.com/office/drawing/2014/main" id="{0E299549-53EE-D6DA-47C9-FC28E3D1796E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 t="1653" b="1653"/>
            <a:stretch/>
          </p:blipFill>
          <p:spPr>
            <a:xfrm>
              <a:off x="2557854" y="3474982"/>
              <a:ext cx="377407" cy="4001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7" name="TextBox 1076">
            <a:extLst>
              <a:ext uri="{FF2B5EF4-FFF2-40B4-BE49-F238E27FC236}">
                <a16:creationId xmlns:a16="http://schemas.microsoft.com/office/drawing/2014/main" id="{B0DB0B55-9FE9-BFA1-7570-D4CFE4A9F4CA}"/>
              </a:ext>
            </a:extLst>
          </p:cNvPr>
          <p:cNvSpPr txBox="1"/>
          <p:nvPr/>
        </p:nvSpPr>
        <p:spPr>
          <a:xfrm>
            <a:off x="2209582" y="4785757"/>
            <a:ext cx="681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Batch</a:t>
            </a:r>
          </a:p>
          <a:p>
            <a:pPr algn="ctr"/>
            <a:r>
              <a:rPr lang="en-US" sz="1000"/>
              <a:t>Ingestion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3AF5D788-B0BD-B97F-8E01-2A3FA61E07B3}"/>
              </a:ext>
            </a:extLst>
          </p:cNvPr>
          <p:cNvSpPr txBox="1"/>
          <p:nvPr/>
        </p:nvSpPr>
        <p:spPr>
          <a:xfrm>
            <a:off x="714384" y="3742292"/>
            <a:ext cx="166781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US" b="1"/>
              <a:t>CRM – </a:t>
            </a:r>
            <a:endParaRPr lang="en-US"/>
          </a:p>
          <a:p>
            <a:r>
              <a:rPr lang="en-US"/>
              <a:t>BOM, Emission Factors, Products</a:t>
            </a:r>
          </a:p>
        </p:txBody>
      </p:sp>
      <p:cxnSp>
        <p:nvCxnSpPr>
          <p:cNvPr id="1079" name="Straight Arrow Connector 1078">
            <a:extLst>
              <a:ext uri="{FF2B5EF4-FFF2-40B4-BE49-F238E27FC236}">
                <a16:creationId xmlns:a16="http://schemas.microsoft.com/office/drawing/2014/main" id="{5C3D6648-0619-83CA-DE49-A2E7887D2BA6}"/>
              </a:ext>
            </a:extLst>
          </p:cNvPr>
          <p:cNvCxnSpPr>
            <a:cxnSpLocks/>
          </p:cNvCxnSpPr>
          <p:nvPr/>
        </p:nvCxnSpPr>
        <p:spPr>
          <a:xfrm>
            <a:off x="2177354" y="4315803"/>
            <a:ext cx="7056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0" name="Rectangle: Rounded Corners 1079">
            <a:extLst>
              <a:ext uri="{FF2B5EF4-FFF2-40B4-BE49-F238E27FC236}">
                <a16:creationId xmlns:a16="http://schemas.microsoft.com/office/drawing/2014/main" id="{9FB41969-A866-AB42-B841-B3450936E3F5}"/>
              </a:ext>
            </a:extLst>
          </p:cNvPr>
          <p:cNvSpPr/>
          <p:nvPr/>
        </p:nvSpPr>
        <p:spPr>
          <a:xfrm>
            <a:off x="8278845" y="3259264"/>
            <a:ext cx="870500" cy="999576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81" name="Rectangle: Rounded Corners 1080">
            <a:extLst>
              <a:ext uri="{FF2B5EF4-FFF2-40B4-BE49-F238E27FC236}">
                <a16:creationId xmlns:a16="http://schemas.microsoft.com/office/drawing/2014/main" id="{FAC68A66-CADE-4767-EC47-137E5EE81FDD}"/>
              </a:ext>
            </a:extLst>
          </p:cNvPr>
          <p:cNvSpPr/>
          <p:nvPr/>
        </p:nvSpPr>
        <p:spPr>
          <a:xfrm>
            <a:off x="9561389" y="3266996"/>
            <a:ext cx="870500" cy="1034757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9F709236-94EA-32C0-963D-ADEFFAC39538}"/>
              </a:ext>
            </a:extLst>
          </p:cNvPr>
          <p:cNvSpPr txBox="1"/>
          <p:nvPr/>
        </p:nvSpPr>
        <p:spPr>
          <a:xfrm>
            <a:off x="692139" y="3175813"/>
            <a:ext cx="1490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US" b="1"/>
              <a:t>Web</a:t>
            </a:r>
            <a:endParaRPr lang="en-US"/>
          </a:p>
          <a:p>
            <a:r>
              <a:rPr lang="en-US"/>
              <a:t>Enquiry Data</a:t>
            </a:r>
          </a:p>
        </p:txBody>
      </p:sp>
      <p:pic>
        <p:nvPicPr>
          <p:cNvPr id="1083" name="Picture 1082">
            <a:extLst>
              <a:ext uri="{FF2B5EF4-FFF2-40B4-BE49-F238E27FC236}">
                <a16:creationId xmlns:a16="http://schemas.microsoft.com/office/drawing/2014/main" id="{7AE599F7-3D3A-B039-9F4B-85A55FA4323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855" y="3203001"/>
            <a:ext cx="402817" cy="444488"/>
          </a:xfrm>
          <a:prstGeom prst="rect">
            <a:avLst/>
          </a:prstGeom>
        </p:spPr>
      </p:pic>
      <p:cxnSp>
        <p:nvCxnSpPr>
          <p:cNvPr id="1084" name="Straight Arrow Connector 1083">
            <a:extLst>
              <a:ext uri="{FF2B5EF4-FFF2-40B4-BE49-F238E27FC236}">
                <a16:creationId xmlns:a16="http://schemas.microsoft.com/office/drawing/2014/main" id="{FFC951AF-FCCB-F8EC-B51A-A570C9A7B344}"/>
              </a:ext>
            </a:extLst>
          </p:cNvPr>
          <p:cNvCxnSpPr>
            <a:cxnSpLocks/>
          </p:cNvCxnSpPr>
          <p:nvPr/>
        </p:nvCxnSpPr>
        <p:spPr>
          <a:xfrm>
            <a:off x="4144295" y="4321358"/>
            <a:ext cx="396185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85" name="Google Shape;230;p20">
            <a:extLst>
              <a:ext uri="{FF2B5EF4-FFF2-40B4-BE49-F238E27FC236}">
                <a16:creationId xmlns:a16="http://schemas.microsoft.com/office/drawing/2014/main" id="{F35CF37C-2DF5-EBF2-9E2B-AABAF3BC4469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74659" y="3824006"/>
            <a:ext cx="365868" cy="351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TextBox 1085">
            <a:extLst>
              <a:ext uri="{FF2B5EF4-FFF2-40B4-BE49-F238E27FC236}">
                <a16:creationId xmlns:a16="http://schemas.microsoft.com/office/drawing/2014/main" id="{8AF42EA3-06D1-2ECD-FF9D-88446931C507}"/>
              </a:ext>
            </a:extLst>
          </p:cNvPr>
          <p:cNvSpPr txBox="1"/>
          <p:nvPr/>
        </p:nvSpPr>
        <p:spPr>
          <a:xfrm>
            <a:off x="708073" y="4452108"/>
            <a:ext cx="1367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SFTP</a:t>
            </a:r>
          </a:p>
          <a:p>
            <a:r>
              <a:rPr lang="en-US" sz="1000"/>
              <a:t>Products, Manufacturing, Transport</a:t>
            </a:r>
          </a:p>
        </p:txBody>
      </p:sp>
      <p:pic>
        <p:nvPicPr>
          <p:cNvPr id="1087" name="Picture 1086">
            <a:extLst>
              <a:ext uri="{FF2B5EF4-FFF2-40B4-BE49-F238E27FC236}">
                <a16:creationId xmlns:a16="http://schemas.microsoft.com/office/drawing/2014/main" id="{678905C4-8EC0-6C83-73F8-A8F06AF798F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3266" y="4518663"/>
            <a:ext cx="365868" cy="365868"/>
          </a:xfrm>
          <a:prstGeom prst="rect">
            <a:avLst/>
          </a:prstGeom>
        </p:spPr>
      </p:pic>
      <p:sp>
        <p:nvSpPr>
          <p:cNvPr id="1088" name="TextBox 1087">
            <a:extLst>
              <a:ext uri="{FF2B5EF4-FFF2-40B4-BE49-F238E27FC236}">
                <a16:creationId xmlns:a16="http://schemas.microsoft.com/office/drawing/2014/main" id="{2440A4F9-4DA5-D193-DD5F-0A25E3B3788A}"/>
              </a:ext>
            </a:extLst>
          </p:cNvPr>
          <p:cNvSpPr txBox="1"/>
          <p:nvPr/>
        </p:nvSpPr>
        <p:spPr>
          <a:xfrm>
            <a:off x="3921067" y="5800106"/>
            <a:ext cx="1367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RAG</a:t>
            </a:r>
          </a:p>
          <a:p>
            <a:r>
              <a:rPr lang="en-US" sz="1000"/>
              <a:t>Materials and Manufacturing Details pdf</a:t>
            </a:r>
          </a:p>
        </p:txBody>
      </p:sp>
      <p:pic>
        <p:nvPicPr>
          <p:cNvPr id="1089" name="Picture 1088" descr="A logo of a company&#10;&#10;AI-generated content may be incorrect.">
            <a:extLst>
              <a:ext uri="{FF2B5EF4-FFF2-40B4-BE49-F238E27FC236}">
                <a16:creationId xmlns:a16="http://schemas.microsoft.com/office/drawing/2014/main" id="{A3992AE4-C5C2-C91C-6C09-9A71D80ED6E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59209" y="5867908"/>
            <a:ext cx="389076" cy="233293"/>
          </a:xfrm>
          <a:prstGeom prst="rect">
            <a:avLst/>
          </a:prstGeom>
        </p:spPr>
      </p:pic>
      <p:sp>
        <p:nvSpPr>
          <p:cNvPr id="1090" name="Rectangle: Rounded Corners 1089">
            <a:extLst>
              <a:ext uri="{FF2B5EF4-FFF2-40B4-BE49-F238E27FC236}">
                <a16:creationId xmlns:a16="http://schemas.microsoft.com/office/drawing/2014/main" id="{AE7C620E-9612-FAD5-E91B-79DC53B75A9F}"/>
              </a:ext>
            </a:extLst>
          </p:cNvPr>
          <p:cNvSpPr/>
          <p:nvPr/>
        </p:nvSpPr>
        <p:spPr>
          <a:xfrm>
            <a:off x="3328199" y="5651837"/>
            <a:ext cx="1962279" cy="960051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91" name="Rectangle: Rounded Corners 1090">
            <a:extLst>
              <a:ext uri="{FF2B5EF4-FFF2-40B4-BE49-F238E27FC236}">
                <a16:creationId xmlns:a16="http://schemas.microsoft.com/office/drawing/2014/main" id="{1FCD6DFC-61E6-F0CC-EA5C-CE9C7D42B6C3}"/>
              </a:ext>
            </a:extLst>
          </p:cNvPr>
          <p:cNvSpPr/>
          <p:nvPr/>
        </p:nvSpPr>
        <p:spPr>
          <a:xfrm>
            <a:off x="2903187" y="3537629"/>
            <a:ext cx="2878403" cy="1678933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092" name="Connector: Elbow 1091">
            <a:extLst>
              <a:ext uri="{FF2B5EF4-FFF2-40B4-BE49-F238E27FC236}">
                <a16:creationId xmlns:a16="http://schemas.microsoft.com/office/drawing/2014/main" id="{094C9B7B-15A3-96A6-34C5-40BF93EB8BE9}"/>
              </a:ext>
            </a:extLst>
          </p:cNvPr>
          <p:cNvCxnSpPr>
            <a:cxnSpLocks/>
          </p:cNvCxnSpPr>
          <p:nvPr/>
        </p:nvCxnSpPr>
        <p:spPr>
          <a:xfrm>
            <a:off x="6974685" y="4905260"/>
            <a:ext cx="1515075" cy="767495"/>
          </a:xfrm>
          <a:prstGeom prst="bentConnector3">
            <a:avLst>
              <a:gd name="adj1" fmla="val 4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Connector: Elbow 1092">
            <a:extLst>
              <a:ext uri="{FF2B5EF4-FFF2-40B4-BE49-F238E27FC236}">
                <a16:creationId xmlns:a16="http://schemas.microsoft.com/office/drawing/2014/main" id="{F18E9EF7-8025-2798-CEBB-B0E6638916E1}"/>
              </a:ext>
            </a:extLst>
          </p:cNvPr>
          <p:cNvCxnSpPr>
            <a:cxnSpLocks/>
            <a:stCxn id="1122" idx="0"/>
          </p:cNvCxnSpPr>
          <p:nvPr/>
        </p:nvCxnSpPr>
        <p:spPr>
          <a:xfrm rot="5400000" flipH="1" flipV="1">
            <a:off x="7314914" y="2734310"/>
            <a:ext cx="697076" cy="13775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4" name="TextBox 1093">
            <a:extLst>
              <a:ext uri="{FF2B5EF4-FFF2-40B4-BE49-F238E27FC236}">
                <a16:creationId xmlns:a16="http://schemas.microsoft.com/office/drawing/2014/main" id="{FB7D13C7-9239-E350-8ACE-43E3500EBA4D}"/>
              </a:ext>
            </a:extLst>
          </p:cNvPr>
          <p:cNvSpPr txBox="1"/>
          <p:nvPr/>
        </p:nvSpPr>
        <p:spPr>
          <a:xfrm>
            <a:off x="7193880" y="3322642"/>
            <a:ext cx="1446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Material &amp; Transport Emission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C6DC5A43-1963-381F-C405-446A57D01B34}"/>
              </a:ext>
            </a:extLst>
          </p:cNvPr>
          <p:cNvSpPr txBox="1"/>
          <p:nvPr/>
        </p:nvSpPr>
        <p:spPr>
          <a:xfrm>
            <a:off x="9444048" y="3241387"/>
            <a:ext cx="2225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Ivy: Provides Co2e emission factors, details on Website and Meta, altering departments on increase on carbon emission  during a product design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5AA3BB49-C219-84EE-2FC7-C162E7CC3775}"/>
              </a:ext>
            </a:extLst>
          </p:cNvPr>
          <p:cNvSpPr txBox="1"/>
          <p:nvPr/>
        </p:nvSpPr>
        <p:spPr>
          <a:xfrm>
            <a:off x="7191458" y="5789944"/>
            <a:ext cx="13295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Consultation Booking</a:t>
            </a:r>
            <a:endParaRPr lang="en-US" sz="1000"/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293E9B87-38BE-469C-2E36-33D008206110}"/>
              </a:ext>
            </a:extLst>
          </p:cNvPr>
          <p:cNvSpPr txBox="1"/>
          <p:nvPr/>
        </p:nvSpPr>
        <p:spPr>
          <a:xfrm>
            <a:off x="7165726" y="4547417"/>
            <a:ext cx="1541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Predictive Modelling on certain params like Product/Material/Costs/Emission</a:t>
            </a:r>
            <a:endParaRPr lang="en-US" sz="1000" dirty="0"/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2419A7D2-2BF0-EF9D-90EA-13562B05B5D7}"/>
              </a:ext>
            </a:extLst>
          </p:cNvPr>
          <p:cNvSpPr txBox="1"/>
          <p:nvPr/>
        </p:nvSpPr>
        <p:spPr>
          <a:xfrm>
            <a:off x="2197109" y="3533913"/>
            <a:ext cx="681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Stream</a:t>
            </a:r>
          </a:p>
          <a:p>
            <a:pPr algn="ctr"/>
            <a:r>
              <a:rPr lang="en-US" sz="1000"/>
              <a:t>Ingestion</a:t>
            </a:r>
          </a:p>
        </p:txBody>
      </p: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983C6F60-3159-5102-E1A4-08E2BDDFB870}"/>
              </a:ext>
            </a:extLst>
          </p:cNvPr>
          <p:cNvGrpSpPr/>
          <p:nvPr/>
        </p:nvGrpSpPr>
        <p:grpSpPr>
          <a:xfrm>
            <a:off x="3175046" y="3927919"/>
            <a:ext cx="2601010" cy="994204"/>
            <a:chOff x="2893199" y="3307719"/>
            <a:chExt cx="3380297" cy="1036925"/>
          </a:xfrm>
        </p:grpSpPr>
        <p:grpSp>
          <p:nvGrpSpPr>
            <p:cNvPr id="1101" name="Group 1100">
              <a:extLst>
                <a:ext uri="{FF2B5EF4-FFF2-40B4-BE49-F238E27FC236}">
                  <a16:creationId xmlns:a16="http://schemas.microsoft.com/office/drawing/2014/main" id="{2E3FC6CB-2799-B291-478B-12DB7EBDF20E}"/>
                </a:ext>
              </a:extLst>
            </p:cNvPr>
            <p:cNvGrpSpPr/>
            <p:nvPr/>
          </p:nvGrpSpPr>
          <p:grpSpPr>
            <a:xfrm>
              <a:off x="2893199" y="3318836"/>
              <a:ext cx="1370425" cy="1023304"/>
              <a:chOff x="3969552" y="3829855"/>
              <a:chExt cx="1696863" cy="1749103"/>
            </a:xfrm>
          </p:grpSpPr>
          <p:sp>
            <p:nvSpPr>
              <p:cNvPr id="1108" name="Rectangle: Rounded Corners 1107">
                <a:extLst>
                  <a:ext uri="{FF2B5EF4-FFF2-40B4-BE49-F238E27FC236}">
                    <a16:creationId xmlns:a16="http://schemas.microsoft.com/office/drawing/2014/main" id="{5BE11085-98F5-5B36-469D-24AE06FFC732}"/>
                  </a:ext>
                </a:extLst>
              </p:cNvPr>
              <p:cNvSpPr/>
              <p:nvPr/>
            </p:nvSpPr>
            <p:spPr>
              <a:xfrm>
                <a:off x="4253910" y="3829855"/>
                <a:ext cx="1106654" cy="1749103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pic>
            <p:nvPicPr>
              <p:cNvPr id="1109" name="Picture 1108" descr="A black background with icons&#10;&#10;Description automatically generated">
                <a:extLst>
                  <a:ext uri="{FF2B5EF4-FFF2-40B4-BE49-F238E27FC236}">
                    <a16:creationId xmlns:a16="http://schemas.microsoft.com/office/drawing/2014/main" id="{C33DC809-5CBA-ABF1-912B-96C1469EE5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04614" y="3990567"/>
                <a:ext cx="525259" cy="64912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</p:pic>
          <p:sp>
            <p:nvSpPr>
              <p:cNvPr id="1110" name="TextBox 1109">
                <a:extLst>
                  <a:ext uri="{FF2B5EF4-FFF2-40B4-BE49-F238E27FC236}">
                    <a16:creationId xmlns:a16="http://schemas.microsoft.com/office/drawing/2014/main" id="{63E7694C-2D31-B3C0-76F2-FB4586B687AA}"/>
                  </a:ext>
                </a:extLst>
              </p:cNvPr>
              <p:cNvSpPr txBox="1"/>
              <p:nvPr/>
            </p:nvSpPr>
            <p:spPr>
              <a:xfrm>
                <a:off x="3969552" y="4679192"/>
                <a:ext cx="1696863" cy="7132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rgbClr val="00B050"/>
                    </a:solidFill>
                  </a:rPr>
                  <a:t>Data transformation</a:t>
                </a:r>
              </a:p>
            </p:txBody>
          </p:sp>
        </p:grpSp>
        <p:grpSp>
          <p:nvGrpSpPr>
            <p:cNvPr id="1102" name="Group 1101">
              <a:extLst>
                <a:ext uri="{FF2B5EF4-FFF2-40B4-BE49-F238E27FC236}">
                  <a16:creationId xmlns:a16="http://schemas.microsoft.com/office/drawing/2014/main" id="{48A43D14-2E20-9E81-3EC8-A9E9A4C35D36}"/>
                </a:ext>
              </a:extLst>
            </p:cNvPr>
            <p:cNvGrpSpPr/>
            <p:nvPr/>
          </p:nvGrpSpPr>
          <p:grpSpPr>
            <a:xfrm>
              <a:off x="4511903" y="3307719"/>
              <a:ext cx="1114078" cy="1036925"/>
              <a:chOff x="3500813" y="3198984"/>
              <a:chExt cx="1418623" cy="1205640"/>
            </a:xfrm>
          </p:grpSpPr>
          <p:sp>
            <p:nvSpPr>
              <p:cNvPr id="1104" name="TextBox 1103">
                <a:extLst>
                  <a:ext uri="{FF2B5EF4-FFF2-40B4-BE49-F238E27FC236}">
                    <a16:creationId xmlns:a16="http://schemas.microsoft.com/office/drawing/2014/main" id="{9242372A-626D-B12A-271B-717C3E34F5C5}"/>
                  </a:ext>
                </a:extLst>
              </p:cNvPr>
              <p:cNvSpPr txBox="1"/>
              <p:nvPr/>
            </p:nvSpPr>
            <p:spPr>
              <a:xfrm>
                <a:off x="3696778" y="3762914"/>
                <a:ext cx="1222658" cy="2862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rgbClr val="00B050"/>
                    </a:solidFill>
                  </a:rPr>
                  <a:t>Data modeling</a:t>
                </a:r>
              </a:p>
            </p:txBody>
          </p:sp>
          <p:grpSp>
            <p:nvGrpSpPr>
              <p:cNvPr id="1105" name="Group 1104">
                <a:extLst>
                  <a:ext uri="{FF2B5EF4-FFF2-40B4-BE49-F238E27FC236}">
                    <a16:creationId xmlns:a16="http://schemas.microsoft.com/office/drawing/2014/main" id="{43D51575-94B9-D7C7-CCCD-D9D30CD75E27}"/>
                  </a:ext>
                </a:extLst>
              </p:cNvPr>
              <p:cNvGrpSpPr/>
              <p:nvPr/>
            </p:nvGrpSpPr>
            <p:grpSpPr>
              <a:xfrm>
                <a:off x="3500813" y="3198984"/>
                <a:ext cx="1106654" cy="1205640"/>
                <a:chOff x="3500813" y="3756333"/>
                <a:chExt cx="1106654" cy="1205640"/>
              </a:xfrm>
            </p:grpSpPr>
            <p:sp>
              <p:nvSpPr>
                <p:cNvPr id="1106" name="Rectangle: Rounded Corners 1105">
                  <a:extLst>
                    <a:ext uri="{FF2B5EF4-FFF2-40B4-BE49-F238E27FC236}">
                      <a16:creationId xmlns:a16="http://schemas.microsoft.com/office/drawing/2014/main" id="{72F99664-9D2C-6FA9-6240-8D99B4C59264}"/>
                    </a:ext>
                  </a:extLst>
                </p:cNvPr>
                <p:cNvSpPr/>
                <p:nvPr/>
              </p:nvSpPr>
              <p:spPr>
                <a:xfrm>
                  <a:off x="3500813" y="3756333"/>
                  <a:ext cx="1106654" cy="120564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4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pic>
              <p:nvPicPr>
                <p:cNvPr id="1107" name="Picture 1106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4BCE46C0-6B01-5BFC-5C67-CDF690F2B4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17805" y="3852746"/>
                  <a:ext cx="484037" cy="48403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4"/>
                </a:fontRef>
              </p:style>
            </p:pic>
          </p:grpSp>
        </p:grpSp>
        <p:sp>
          <p:nvSpPr>
            <p:cNvPr id="1103" name="Rectangle: Rounded Corners 1102">
              <a:extLst>
                <a:ext uri="{FF2B5EF4-FFF2-40B4-BE49-F238E27FC236}">
                  <a16:creationId xmlns:a16="http://schemas.microsoft.com/office/drawing/2014/main" id="{2CB6AC2E-F106-ABAD-4DF9-8829AB8DF3BC}"/>
                </a:ext>
              </a:extLst>
            </p:cNvPr>
            <p:cNvSpPr/>
            <p:nvPr/>
          </p:nvSpPr>
          <p:spPr>
            <a:xfrm>
              <a:off x="5587639" y="3378448"/>
              <a:ext cx="685857" cy="730577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1113" name="TextBox 1112">
            <a:extLst>
              <a:ext uri="{FF2B5EF4-FFF2-40B4-BE49-F238E27FC236}">
                <a16:creationId xmlns:a16="http://schemas.microsoft.com/office/drawing/2014/main" id="{B4509047-34AB-6A48-89FE-9A651F3C1394}"/>
              </a:ext>
            </a:extLst>
          </p:cNvPr>
          <p:cNvSpPr txBox="1"/>
          <p:nvPr/>
        </p:nvSpPr>
        <p:spPr>
          <a:xfrm>
            <a:off x="8425265" y="2705208"/>
            <a:ext cx="1106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Apex + Prompts</a:t>
            </a:r>
          </a:p>
        </p:txBody>
      </p:sp>
      <p:sp>
        <p:nvSpPr>
          <p:cNvPr id="1115" name="Rectangle: Rounded Corners 1114">
            <a:extLst>
              <a:ext uri="{FF2B5EF4-FFF2-40B4-BE49-F238E27FC236}">
                <a16:creationId xmlns:a16="http://schemas.microsoft.com/office/drawing/2014/main" id="{8215656A-217C-29E9-A8BF-9A42A6313931}"/>
              </a:ext>
            </a:extLst>
          </p:cNvPr>
          <p:cNvSpPr/>
          <p:nvPr/>
        </p:nvSpPr>
        <p:spPr>
          <a:xfrm>
            <a:off x="38285" y="2672241"/>
            <a:ext cx="11669933" cy="4086963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1116" name="Picture 1115" descr="A red square with white text&#10;&#10;AI-generated content may be incorrect.">
            <a:extLst>
              <a:ext uri="{FF2B5EF4-FFF2-40B4-BE49-F238E27FC236}">
                <a16:creationId xmlns:a16="http://schemas.microsoft.com/office/drawing/2014/main" id="{146DB83F-B564-B773-2D91-AFF2EDAB549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698" y="6142629"/>
            <a:ext cx="275272" cy="275272"/>
          </a:xfrm>
          <a:prstGeom prst="rect">
            <a:avLst/>
          </a:prstGeom>
        </p:spPr>
      </p:pic>
      <p:sp>
        <p:nvSpPr>
          <p:cNvPr id="1121" name="TextBox 1120">
            <a:extLst>
              <a:ext uri="{FF2B5EF4-FFF2-40B4-BE49-F238E27FC236}">
                <a16:creationId xmlns:a16="http://schemas.microsoft.com/office/drawing/2014/main" id="{F8B3EB80-C397-3F96-319D-0F95DE9B0987}"/>
              </a:ext>
            </a:extLst>
          </p:cNvPr>
          <p:cNvSpPr txBox="1"/>
          <p:nvPr/>
        </p:nvSpPr>
        <p:spPr>
          <a:xfrm>
            <a:off x="4366065" y="5238690"/>
            <a:ext cx="1875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Search Indexes on Unstructured Data, used by the  Agent</a:t>
            </a:r>
          </a:p>
        </p:txBody>
      </p:sp>
      <p:pic>
        <p:nvPicPr>
          <p:cNvPr id="1122" name="Picture 2" descr="Salesforce Einstein Analytics and Discovery Consultant Certification Tips -  Cloud Galacticos">
            <a:extLst>
              <a:ext uri="{FF2B5EF4-FFF2-40B4-BE49-F238E27FC236}">
                <a16:creationId xmlns:a16="http://schemas.microsoft.com/office/drawing/2014/main" id="{33062818-6BBE-7F94-9E6E-AC06F23D5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32497" y="3771615"/>
            <a:ext cx="684376" cy="110317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3" name="Connector: Elbow 1122">
            <a:extLst>
              <a:ext uri="{FF2B5EF4-FFF2-40B4-BE49-F238E27FC236}">
                <a16:creationId xmlns:a16="http://schemas.microsoft.com/office/drawing/2014/main" id="{97B6E0ED-BFFA-F6E8-06E7-814E24568BD9}"/>
              </a:ext>
            </a:extLst>
          </p:cNvPr>
          <p:cNvCxnSpPr>
            <a:cxnSpLocks/>
            <a:endCxn id="1122" idx="3"/>
          </p:cNvCxnSpPr>
          <p:nvPr/>
        </p:nvCxnSpPr>
        <p:spPr>
          <a:xfrm>
            <a:off x="5807075" y="4323202"/>
            <a:ext cx="8254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" name="TextBox 1125">
            <a:extLst>
              <a:ext uri="{FF2B5EF4-FFF2-40B4-BE49-F238E27FC236}">
                <a16:creationId xmlns:a16="http://schemas.microsoft.com/office/drawing/2014/main" id="{958C440C-6F1B-D458-5000-2820BAE842DF}"/>
              </a:ext>
            </a:extLst>
          </p:cNvPr>
          <p:cNvSpPr txBox="1"/>
          <p:nvPr/>
        </p:nvSpPr>
        <p:spPr>
          <a:xfrm>
            <a:off x="8198119" y="3921247"/>
            <a:ext cx="13767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Predictive Model</a:t>
            </a:r>
          </a:p>
        </p:txBody>
      </p:sp>
      <p:cxnSp>
        <p:nvCxnSpPr>
          <p:cNvPr id="1131" name="Connector: Elbow 1130">
            <a:extLst>
              <a:ext uri="{FF2B5EF4-FFF2-40B4-BE49-F238E27FC236}">
                <a16:creationId xmlns:a16="http://schemas.microsoft.com/office/drawing/2014/main" id="{3097E76F-2558-7AE1-6243-F94A8322F718}"/>
              </a:ext>
            </a:extLst>
          </p:cNvPr>
          <p:cNvCxnSpPr>
            <a:cxnSpLocks/>
          </p:cNvCxnSpPr>
          <p:nvPr/>
        </p:nvCxnSpPr>
        <p:spPr>
          <a:xfrm>
            <a:off x="7288425" y="4321358"/>
            <a:ext cx="1200095" cy="5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2" name="Picture 1131" descr="A blue cloud with white text&#10;&#10;Description automatically generated">
            <a:extLst>
              <a:ext uri="{FF2B5EF4-FFF2-40B4-BE49-F238E27FC236}">
                <a16:creationId xmlns:a16="http://schemas.microsoft.com/office/drawing/2014/main" id="{B3A27B34-EEE1-FBF6-4A9B-A1C3818FF4D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6" t="18660" r="25965" b="17804"/>
          <a:stretch/>
        </p:blipFill>
        <p:spPr>
          <a:xfrm>
            <a:off x="3471397" y="3621495"/>
            <a:ext cx="301738" cy="246221"/>
          </a:xfrm>
          <a:prstGeom prst="rect">
            <a:avLst/>
          </a:prstGeom>
        </p:spPr>
      </p:pic>
      <p:sp>
        <p:nvSpPr>
          <p:cNvPr id="1133" name="TextBox 1132">
            <a:extLst>
              <a:ext uri="{FF2B5EF4-FFF2-40B4-BE49-F238E27FC236}">
                <a16:creationId xmlns:a16="http://schemas.microsoft.com/office/drawing/2014/main" id="{1EC4BC9F-C6A9-68E0-6B3C-901C6E72ECFE}"/>
              </a:ext>
            </a:extLst>
          </p:cNvPr>
          <p:cNvSpPr txBox="1"/>
          <p:nvPr/>
        </p:nvSpPr>
        <p:spPr>
          <a:xfrm>
            <a:off x="3731318" y="3614992"/>
            <a:ext cx="14918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Salesforce Data 360</a:t>
            </a:r>
            <a:endParaRPr lang="en-IN" sz="1000" b="1"/>
          </a:p>
        </p:txBody>
      </p:sp>
      <p:cxnSp>
        <p:nvCxnSpPr>
          <p:cNvPr id="1134" name="Connector: Elbow 1133">
            <a:extLst>
              <a:ext uri="{FF2B5EF4-FFF2-40B4-BE49-F238E27FC236}">
                <a16:creationId xmlns:a16="http://schemas.microsoft.com/office/drawing/2014/main" id="{EB18B34E-5161-1DB6-CBF8-7F93DDC9DB05}"/>
              </a:ext>
            </a:extLst>
          </p:cNvPr>
          <p:cNvCxnSpPr>
            <a:cxnSpLocks/>
          </p:cNvCxnSpPr>
          <p:nvPr/>
        </p:nvCxnSpPr>
        <p:spPr>
          <a:xfrm flipV="1">
            <a:off x="4312226" y="5232437"/>
            <a:ext cx="0" cy="406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9" name="Picture 114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7303B0F-0FB7-4111-77A1-1443B94D814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016" y="5547115"/>
            <a:ext cx="251278" cy="251279"/>
          </a:xfrm>
          <a:prstGeom prst="rect">
            <a:avLst/>
          </a:prstGeom>
        </p:spPr>
      </p:pic>
      <p:pic>
        <p:nvPicPr>
          <p:cNvPr id="1151" name="Picture 1150" descr="A black triangle with a white background&#10;&#10;AI-generated content may be incorrect.">
            <a:extLst>
              <a:ext uri="{FF2B5EF4-FFF2-40B4-BE49-F238E27FC236}">
                <a16:creationId xmlns:a16="http://schemas.microsoft.com/office/drawing/2014/main" id="{9194BA5D-57E7-A31C-F767-3A848E5B5DA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842" y="2980184"/>
            <a:ext cx="267434" cy="200317"/>
          </a:xfrm>
          <a:prstGeom prst="rect">
            <a:avLst/>
          </a:prstGeom>
        </p:spPr>
      </p:pic>
      <p:cxnSp>
        <p:nvCxnSpPr>
          <p:cNvPr id="1167" name="Connector: Elbow 1166">
            <a:extLst>
              <a:ext uri="{FF2B5EF4-FFF2-40B4-BE49-F238E27FC236}">
                <a16:creationId xmlns:a16="http://schemas.microsoft.com/office/drawing/2014/main" id="{A996326D-BF2E-65BA-9D71-34D552E47113}"/>
              </a:ext>
            </a:extLst>
          </p:cNvPr>
          <p:cNvCxnSpPr>
            <a:cxnSpLocks/>
          </p:cNvCxnSpPr>
          <p:nvPr/>
        </p:nvCxnSpPr>
        <p:spPr>
          <a:xfrm>
            <a:off x="8917562" y="5651348"/>
            <a:ext cx="609913" cy="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7" name="Group 1176">
            <a:extLst>
              <a:ext uri="{FF2B5EF4-FFF2-40B4-BE49-F238E27FC236}">
                <a16:creationId xmlns:a16="http://schemas.microsoft.com/office/drawing/2014/main" id="{385C19EF-61DF-7503-227E-B2364B70B04B}"/>
              </a:ext>
            </a:extLst>
          </p:cNvPr>
          <p:cNvGrpSpPr/>
          <p:nvPr/>
        </p:nvGrpSpPr>
        <p:grpSpPr>
          <a:xfrm>
            <a:off x="9601920" y="2867186"/>
            <a:ext cx="1171967" cy="425029"/>
            <a:chOff x="10044018" y="2893682"/>
            <a:chExt cx="1171967" cy="425029"/>
          </a:xfrm>
        </p:grpSpPr>
        <p:grpSp>
          <p:nvGrpSpPr>
            <p:cNvPr id="1118" name="Group 1117">
              <a:extLst>
                <a:ext uri="{FF2B5EF4-FFF2-40B4-BE49-F238E27FC236}">
                  <a16:creationId xmlns:a16="http://schemas.microsoft.com/office/drawing/2014/main" id="{0BF27592-D273-09EB-6818-89426B2B00FF}"/>
                </a:ext>
              </a:extLst>
            </p:cNvPr>
            <p:cNvGrpSpPr/>
            <p:nvPr/>
          </p:nvGrpSpPr>
          <p:grpSpPr>
            <a:xfrm>
              <a:off x="10044018" y="2893682"/>
              <a:ext cx="838042" cy="425029"/>
              <a:chOff x="10900273" y="3136337"/>
              <a:chExt cx="838042" cy="425029"/>
            </a:xfrm>
          </p:grpSpPr>
          <p:pic>
            <p:nvPicPr>
              <p:cNvPr id="1119" name="Picture 1118" descr="A logo of a social media network&#10;&#10;AI-generated content may be incorrect.">
                <a:extLst>
                  <a:ext uri="{FF2B5EF4-FFF2-40B4-BE49-F238E27FC236}">
                    <a16:creationId xmlns:a16="http://schemas.microsoft.com/office/drawing/2014/main" id="{088B1DF4-D834-6C5C-FD14-9605507484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30079" y="3213768"/>
                <a:ext cx="508236" cy="285883"/>
              </a:xfrm>
              <a:prstGeom prst="rect">
                <a:avLst/>
              </a:prstGeom>
            </p:spPr>
          </p:pic>
          <p:pic>
            <p:nvPicPr>
              <p:cNvPr id="1120" name="Picture 1119" descr="A blue and black envelope with a symbol&#10;&#10;AI-generated content may be incorrect.">
                <a:extLst>
                  <a:ext uri="{FF2B5EF4-FFF2-40B4-BE49-F238E27FC236}">
                    <a16:creationId xmlns:a16="http://schemas.microsoft.com/office/drawing/2014/main" id="{AD2772E1-5545-2E64-C657-C6FC2048D1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24"/>
                  </a:ext>
                </a:extLst>
              </a:blip>
              <a:stretch>
                <a:fillRect/>
              </a:stretch>
            </p:blipFill>
            <p:spPr>
              <a:xfrm>
                <a:off x="10900273" y="3136337"/>
                <a:ext cx="424722" cy="425029"/>
              </a:xfrm>
              <a:prstGeom prst="rect">
                <a:avLst/>
              </a:prstGeom>
            </p:spPr>
          </p:pic>
        </p:grpSp>
        <p:pic>
          <p:nvPicPr>
            <p:cNvPr id="1176" name="Picture 1175">
              <a:extLst>
                <a:ext uri="{FF2B5EF4-FFF2-40B4-BE49-F238E27FC236}">
                  <a16:creationId xmlns:a16="http://schemas.microsoft.com/office/drawing/2014/main" id="{43BB3B70-40D5-E91A-0180-1EDB9E64D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812134" y="2917944"/>
              <a:ext cx="403851" cy="390389"/>
            </a:xfrm>
            <a:prstGeom prst="ellipse">
              <a:avLst/>
            </a:prstGeom>
            <a:ln w="3175" cap="rnd">
              <a:noFill/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1184" name="Group 1183">
            <a:extLst>
              <a:ext uri="{FF2B5EF4-FFF2-40B4-BE49-F238E27FC236}">
                <a16:creationId xmlns:a16="http://schemas.microsoft.com/office/drawing/2014/main" id="{27567147-9D90-E132-F400-C3015F44934A}"/>
              </a:ext>
            </a:extLst>
          </p:cNvPr>
          <p:cNvGrpSpPr/>
          <p:nvPr/>
        </p:nvGrpSpPr>
        <p:grpSpPr>
          <a:xfrm>
            <a:off x="9596524" y="5435618"/>
            <a:ext cx="1177363" cy="446551"/>
            <a:chOff x="10048797" y="2885945"/>
            <a:chExt cx="1177363" cy="446551"/>
          </a:xfrm>
        </p:grpSpPr>
        <p:grpSp>
          <p:nvGrpSpPr>
            <p:cNvPr id="1185" name="Group 1184">
              <a:extLst>
                <a:ext uri="{FF2B5EF4-FFF2-40B4-BE49-F238E27FC236}">
                  <a16:creationId xmlns:a16="http://schemas.microsoft.com/office/drawing/2014/main" id="{B065D33A-6E71-41A4-7B87-44604AB82163}"/>
                </a:ext>
              </a:extLst>
            </p:cNvPr>
            <p:cNvGrpSpPr/>
            <p:nvPr/>
          </p:nvGrpSpPr>
          <p:grpSpPr>
            <a:xfrm>
              <a:off x="10048797" y="2885945"/>
              <a:ext cx="850650" cy="425029"/>
              <a:chOff x="10905052" y="3128600"/>
              <a:chExt cx="850650" cy="425029"/>
            </a:xfrm>
          </p:grpSpPr>
          <p:pic>
            <p:nvPicPr>
              <p:cNvPr id="1187" name="Picture 1186" descr="A logo of a social media network&#10;&#10;AI-generated content may be incorrect.">
                <a:extLst>
                  <a:ext uri="{FF2B5EF4-FFF2-40B4-BE49-F238E27FC236}">
                    <a16:creationId xmlns:a16="http://schemas.microsoft.com/office/drawing/2014/main" id="{3D187192-E020-72F9-A8D0-89697E0CAC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47466" y="3210631"/>
                <a:ext cx="508236" cy="285883"/>
              </a:xfrm>
              <a:prstGeom prst="rect">
                <a:avLst/>
              </a:prstGeom>
            </p:spPr>
          </p:pic>
          <p:pic>
            <p:nvPicPr>
              <p:cNvPr id="1188" name="Picture 1187" descr="A blue and black envelope with a symbol&#10;&#10;AI-generated content may be incorrect.">
                <a:extLst>
                  <a:ext uri="{FF2B5EF4-FFF2-40B4-BE49-F238E27FC236}">
                    <a16:creationId xmlns:a16="http://schemas.microsoft.com/office/drawing/2014/main" id="{2E5F0CA0-73E4-C8C3-B818-772C87D002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24"/>
                  </a:ext>
                </a:extLst>
              </a:blip>
              <a:stretch>
                <a:fillRect/>
              </a:stretch>
            </p:blipFill>
            <p:spPr>
              <a:xfrm>
                <a:off x="10905052" y="3128600"/>
                <a:ext cx="424722" cy="425029"/>
              </a:xfrm>
              <a:prstGeom prst="rect">
                <a:avLst/>
              </a:prstGeom>
            </p:spPr>
          </p:pic>
        </p:grpSp>
        <p:pic>
          <p:nvPicPr>
            <p:cNvPr id="1186" name="Picture 1185">
              <a:extLst>
                <a:ext uri="{FF2B5EF4-FFF2-40B4-BE49-F238E27FC236}">
                  <a16:creationId xmlns:a16="http://schemas.microsoft.com/office/drawing/2014/main" id="{11395D04-D6BA-79B2-C377-CCD9EE4FA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822309" y="2942107"/>
              <a:ext cx="403851" cy="390389"/>
            </a:xfrm>
            <a:prstGeom prst="ellipse">
              <a:avLst/>
            </a:prstGeom>
            <a:ln w="3175" cap="rnd">
              <a:noFill/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1189" name="Group 1188">
            <a:extLst>
              <a:ext uri="{FF2B5EF4-FFF2-40B4-BE49-F238E27FC236}">
                <a16:creationId xmlns:a16="http://schemas.microsoft.com/office/drawing/2014/main" id="{7AC5CA08-7AED-90D9-20BE-AFE354432276}"/>
              </a:ext>
            </a:extLst>
          </p:cNvPr>
          <p:cNvGrpSpPr/>
          <p:nvPr/>
        </p:nvGrpSpPr>
        <p:grpSpPr>
          <a:xfrm>
            <a:off x="9534049" y="4129100"/>
            <a:ext cx="841818" cy="390389"/>
            <a:chOff x="10391211" y="2913548"/>
            <a:chExt cx="841818" cy="390389"/>
          </a:xfrm>
        </p:grpSpPr>
        <p:pic>
          <p:nvPicPr>
            <p:cNvPr id="1192" name="Picture 1191" descr="A logo of a social media network&#10;&#10;AI-generated content may be incorrect.">
              <a:extLst>
                <a:ext uri="{FF2B5EF4-FFF2-40B4-BE49-F238E27FC236}">
                  <a16:creationId xmlns:a16="http://schemas.microsoft.com/office/drawing/2014/main" id="{8339A432-8028-154B-5F3D-9504038D1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91211" y="2967976"/>
              <a:ext cx="508236" cy="285883"/>
            </a:xfrm>
            <a:prstGeom prst="rect">
              <a:avLst/>
            </a:prstGeom>
          </p:spPr>
        </p:pic>
        <p:pic>
          <p:nvPicPr>
            <p:cNvPr id="1191" name="Picture 1190">
              <a:extLst>
                <a:ext uri="{FF2B5EF4-FFF2-40B4-BE49-F238E27FC236}">
                  <a16:creationId xmlns:a16="http://schemas.microsoft.com/office/drawing/2014/main" id="{4F06D605-6649-C350-88FD-E283A7AA0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829178" y="2913548"/>
              <a:ext cx="403851" cy="390389"/>
            </a:xfrm>
            <a:prstGeom prst="ellipse">
              <a:avLst/>
            </a:prstGeom>
            <a:ln w="3175" cap="rnd">
              <a:noFill/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sp>
        <p:nvSpPr>
          <p:cNvPr id="1196" name="TextBox 1195">
            <a:extLst>
              <a:ext uri="{FF2B5EF4-FFF2-40B4-BE49-F238E27FC236}">
                <a16:creationId xmlns:a16="http://schemas.microsoft.com/office/drawing/2014/main" id="{6053C546-347F-5EE7-A063-EDE5F88536B1}"/>
              </a:ext>
            </a:extLst>
          </p:cNvPr>
          <p:cNvSpPr txBox="1"/>
          <p:nvPr/>
        </p:nvSpPr>
        <p:spPr>
          <a:xfrm>
            <a:off x="9503108" y="4556680"/>
            <a:ext cx="2225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Ivy: Predicts patterns and trends and provide details Co2e emission factors, details on Website and Meta, Generate Reports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6E861635-94B3-C55F-D206-229040B3B081}"/>
              </a:ext>
            </a:extLst>
          </p:cNvPr>
          <p:cNvSpPr txBox="1"/>
          <p:nvPr/>
        </p:nvSpPr>
        <p:spPr>
          <a:xfrm>
            <a:off x="9503107" y="5895117"/>
            <a:ext cx="2225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Ivy: Helps in consultation booking via emails on Website and Meta</a:t>
            </a:r>
          </a:p>
        </p:txBody>
      </p:sp>
      <p:pic>
        <p:nvPicPr>
          <p:cNvPr id="1198" name="Picture 1197">
            <a:extLst>
              <a:ext uri="{FF2B5EF4-FFF2-40B4-BE49-F238E27FC236}">
                <a16:creationId xmlns:a16="http://schemas.microsoft.com/office/drawing/2014/main" id="{CDED117A-8102-7C3E-EDF2-323797C9E65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26277" y="2980184"/>
            <a:ext cx="188784" cy="188784"/>
          </a:xfrm>
          <a:prstGeom prst="rect">
            <a:avLst/>
          </a:prstGeom>
        </p:spPr>
      </p:pic>
      <p:cxnSp>
        <p:nvCxnSpPr>
          <p:cNvPr id="1202" name="Connector: Elbow 1201">
            <a:extLst>
              <a:ext uri="{FF2B5EF4-FFF2-40B4-BE49-F238E27FC236}">
                <a16:creationId xmlns:a16="http://schemas.microsoft.com/office/drawing/2014/main" id="{089E761B-719D-34D0-8895-5B9AD3331B71}"/>
              </a:ext>
            </a:extLst>
          </p:cNvPr>
          <p:cNvCxnSpPr>
            <a:cxnSpLocks/>
          </p:cNvCxnSpPr>
          <p:nvPr/>
        </p:nvCxnSpPr>
        <p:spPr>
          <a:xfrm>
            <a:off x="4863885" y="1731598"/>
            <a:ext cx="0" cy="924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Connector: Elbow 1166">
            <a:extLst>
              <a:ext uri="{FF2B5EF4-FFF2-40B4-BE49-F238E27FC236}">
                <a16:creationId xmlns:a16="http://schemas.microsoft.com/office/drawing/2014/main" id="{36DA8634-38C5-A1CF-B66D-A266A80CD76E}"/>
              </a:ext>
            </a:extLst>
          </p:cNvPr>
          <p:cNvCxnSpPr>
            <a:cxnSpLocks/>
          </p:cNvCxnSpPr>
          <p:nvPr/>
        </p:nvCxnSpPr>
        <p:spPr>
          <a:xfrm>
            <a:off x="8895988" y="4323012"/>
            <a:ext cx="609913" cy="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Connector: Elbow 1166">
            <a:extLst>
              <a:ext uri="{FF2B5EF4-FFF2-40B4-BE49-F238E27FC236}">
                <a16:creationId xmlns:a16="http://schemas.microsoft.com/office/drawing/2014/main" id="{059BBA49-E2E2-6D89-F26F-DBE98B522292}"/>
              </a:ext>
            </a:extLst>
          </p:cNvPr>
          <p:cNvCxnSpPr>
            <a:cxnSpLocks/>
          </p:cNvCxnSpPr>
          <p:nvPr/>
        </p:nvCxnSpPr>
        <p:spPr>
          <a:xfrm>
            <a:off x="8869472" y="3079987"/>
            <a:ext cx="609913" cy="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3105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E3633-40EE-C636-261D-87EE0DEF5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0C2B9A77-D32B-C83A-BA17-5462DC99EA2F}"/>
              </a:ext>
            </a:extLst>
          </p:cNvPr>
          <p:cNvSpPr/>
          <p:nvPr/>
        </p:nvSpPr>
        <p:spPr>
          <a:xfrm>
            <a:off x="2870165" y="1613845"/>
            <a:ext cx="367631" cy="367631"/>
          </a:xfrm>
          <a:prstGeom prst="ellipse">
            <a:avLst/>
          </a:prstGeom>
          <a:solidFill>
            <a:srgbClr val="1B3B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A5468C-4594-E991-817A-3D9C6186BF64}"/>
              </a:ext>
            </a:extLst>
          </p:cNvPr>
          <p:cNvSpPr/>
          <p:nvPr/>
        </p:nvSpPr>
        <p:spPr>
          <a:xfrm>
            <a:off x="337222" y="3852448"/>
            <a:ext cx="2752720" cy="20621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SzPct val="100000"/>
            </a:pPr>
            <a:r>
              <a:rPr lang="da-DK" b="1" dirty="0">
                <a:latin typeface="Aptos" panose="020B0004020202020204" pitchFamily="34" charset="0"/>
              </a:rPr>
              <a:t>💰 Cost Impact</a:t>
            </a:r>
          </a:p>
          <a:p>
            <a:pPr>
              <a:buSzPct val="100000"/>
            </a:pPr>
            <a:endParaRPr lang="da-DK" sz="1300" b="1" dirty="0">
              <a:latin typeface="Aptos" panose="020B0004020202020204" pitchFamily="34" charset="0"/>
            </a:endParaRPr>
          </a:p>
          <a:p>
            <a:r>
              <a:rPr lang="en-US" sz="1000" b="1" dirty="0"/>
              <a:t>Statement:</a:t>
            </a:r>
            <a:br>
              <a:rPr lang="en-US" sz="1000" dirty="0"/>
            </a:br>
            <a:r>
              <a:rPr lang="en-US" sz="1000" dirty="0"/>
              <a:t>Drives cost savings and operational efficiency.</a:t>
            </a:r>
          </a:p>
          <a:p>
            <a:endParaRPr lang="en-US" sz="1000" dirty="0"/>
          </a:p>
          <a:p>
            <a:r>
              <a:rPr lang="en-US" sz="1000" b="1" dirty="0"/>
              <a:t>Key Points: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Recommends lower-cost, lower-emission materials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Reduces manual customer support workload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Optimizes supply chain through smart insights</a:t>
            </a:r>
          </a:p>
          <a:p>
            <a:pPr>
              <a:buSzPct val="100000"/>
            </a:pPr>
            <a:br>
              <a:rPr lang="da-DK" sz="1300" dirty="0">
                <a:latin typeface="Aptos" panose="020B0004020202020204" pitchFamily="34" charset="0"/>
              </a:rPr>
            </a:br>
            <a:endParaRPr lang="en-US" sz="1000" dirty="0"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Freeform 82">
            <a:extLst>
              <a:ext uri="{FF2B5EF4-FFF2-40B4-BE49-F238E27FC236}">
                <a16:creationId xmlns:a16="http://schemas.microsoft.com/office/drawing/2014/main" id="{CE6980D9-64E8-B046-43EC-665D979796B5}"/>
              </a:ext>
            </a:extLst>
          </p:cNvPr>
          <p:cNvSpPr/>
          <p:nvPr/>
        </p:nvSpPr>
        <p:spPr bwMode="gray">
          <a:xfrm rot="16200000" flipH="1">
            <a:off x="3724119" y="4657997"/>
            <a:ext cx="1246845" cy="1412039"/>
          </a:xfrm>
          <a:custGeom>
            <a:avLst/>
            <a:gdLst>
              <a:gd name="connsiteX0" fmla="*/ 1575303 w 1575303"/>
              <a:gd name="connsiteY0" fmla="*/ 1403288 h 1403288"/>
              <a:gd name="connsiteX1" fmla="*/ 1575303 w 1575303"/>
              <a:gd name="connsiteY1" fmla="*/ 0 h 1403288"/>
              <a:gd name="connsiteX2" fmla="*/ 0 w 1575303"/>
              <a:gd name="connsiteY2" fmla="*/ 0 h 140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5303" h="1403288">
                <a:moveTo>
                  <a:pt x="1575303" y="1403288"/>
                </a:moveTo>
                <a:lnTo>
                  <a:pt x="1575303" y="0"/>
                </a:lnTo>
                <a:lnTo>
                  <a:pt x="0" y="0"/>
                </a:lnTo>
              </a:path>
            </a:pathLst>
          </a:custGeom>
          <a:noFill/>
          <a:ln w="1270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oval"/>
          </a:ln>
        </p:spPr>
        <p:txBody>
          <a:bodyPr anchor="ctr"/>
          <a:lstStyle/>
          <a:p>
            <a:pPr algn="ctr" defTabSz="1219170" eaLnBrk="0" fontAlgn="base" hangingPunct="0">
              <a:defRPr/>
            </a:pPr>
            <a:endParaRPr lang="en-US" sz="1300"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C0BE6C-D1EA-41BF-EE29-DF422DC0C994}"/>
              </a:ext>
            </a:extLst>
          </p:cNvPr>
          <p:cNvSpPr/>
          <p:nvPr/>
        </p:nvSpPr>
        <p:spPr>
          <a:xfrm>
            <a:off x="8623882" y="1093461"/>
            <a:ext cx="2915846" cy="243612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buSzPct val="100000"/>
            </a:pPr>
            <a:r>
              <a:rPr lang="en-IN" b="1"/>
              <a:t>🌍 Market Impact</a:t>
            </a:r>
          </a:p>
          <a:p>
            <a:pPr>
              <a:buSzPct val="100000"/>
            </a:pPr>
            <a:endParaRPr lang="en-IN" sz="1300" b="1"/>
          </a:p>
          <a:p>
            <a:r>
              <a:rPr lang="en-US" sz="1000" b="1"/>
              <a:t>Statement:</a:t>
            </a:r>
            <a:br>
              <a:rPr lang="en-US" sz="1000"/>
            </a:br>
            <a:r>
              <a:rPr lang="en-US" sz="1000"/>
              <a:t>Strengthens market position and attracts eco-conscious consumers.</a:t>
            </a:r>
          </a:p>
          <a:p>
            <a:endParaRPr lang="en-US" sz="1000"/>
          </a:p>
          <a:p>
            <a:r>
              <a:rPr lang="en-US" sz="1000" b="1"/>
              <a:t>Key Points:</a:t>
            </a: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Creates a competitive edge in a sustainability-focused market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Supports regulatory and reporting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Attracts new audience segments (green shoppers, partners</a:t>
            </a:r>
            <a:r>
              <a:rPr lang="en-US" sz="900"/>
              <a:t>)</a:t>
            </a:r>
          </a:p>
          <a:p>
            <a:pPr>
              <a:buSzPct val="100000"/>
            </a:pPr>
            <a:br>
              <a:rPr lang="en-IN" sz="1200"/>
            </a:br>
            <a:endParaRPr lang="en-IN" sz="1000"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801CA0-153E-B2E1-89A3-3980B03CE2B5}"/>
              </a:ext>
            </a:extLst>
          </p:cNvPr>
          <p:cNvSpPr/>
          <p:nvPr/>
        </p:nvSpPr>
        <p:spPr>
          <a:xfrm>
            <a:off x="8810798" y="3767381"/>
            <a:ext cx="2826495" cy="2169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1219170" eaLnBrk="0" fontAlgn="base" hangingPunct="0">
              <a:defRPr/>
            </a:pPr>
            <a:r>
              <a:rPr lang="en-US" b="1" dirty="0"/>
              <a:t>      Environment Impact</a:t>
            </a:r>
          </a:p>
          <a:p>
            <a:pPr defTabSz="1219170" eaLnBrk="0" fontAlgn="base" hangingPunct="0">
              <a:defRPr/>
            </a:pPr>
            <a:endParaRPr lang="en-US" sz="1300" b="1" dirty="0"/>
          </a:p>
          <a:p>
            <a:r>
              <a:rPr lang="en-US" sz="1000" b="1" dirty="0"/>
              <a:t>Statement:</a:t>
            </a:r>
            <a:br>
              <a:rPr lang="en-US" sz="1000" dirty="0"/>
            </a:br>
            <a:r>
              <a:rPr lang="en-US" sz="1000" dirty="0"/>
              <a:t>Reduces environmental footprint across the product lifecycle.</a:t>
            </a:r>
          </a:p>
          <a:p>
            <a:endParaRPr lang="en-US" sz="1000" dirty="0"/>
          </a:p>
          <a:p>
            <a:r>
              <a:rPr lang="en-US" sz="1000" b="1" dirty="0"/>
              <a:t>Key Points: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Lowers embodied carbon through smarter material recommendations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Cuts waste by flagging inefficient design and production choices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Extends product lifespan through durability and repair guidance</a:t>
            </a:r>
            <a:endParaRPr lang="en-US" sz="13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DE31C0-686E-F4F2-5EC7-7E236B23F626}"/>
              </a:ext>
            </a:extLst>
          </p:cNvPr>
          <p:cNvSpPr/>
          <p:nvPr/>
        </p:nvSpPr>
        <p:spPr>
          <a:xfrm>
            <a:off x="332705" y="1024649"/>
            <a:ext cx="2686067" cy="230832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IN" b="1"/>
              <a:t>💼 Business Impact</a:t>
            </a:r>
          </a:p>
          <a:p>
            <a:endParaRPr lang="en-IN" sz="1000" b="1"/>
          </a:p>
          <a:p>
            <a:r>
              <a:rPr lang="en-US" sz="1000" b="1"/>
              <a:t>Statement:</a:t>
            </a:r>
            <a:br>
              <a:rPr lang="en-US" sz="1000"/>
            </a:br>
            <a:r>
              <a:rPr lang="en-US" sz="1000"/>
              <a:t>Enhances customer empowerment, brand trust, and operational excellence.</a:t>
            </a:r>
            <a:endParaRPr lang="en-US" sz="1000">
              <a:ea typeface="Calibri"/>
              <a:cs typeface="Calibri"/>
            </a:endParaRPr>
          </a:p>
          <a:p>
            <a:endParaRPr lang="en-US" sz="1000"/>
          </a:p>
          <a:p>
            <a:r>
              <a:rPr lang="en-US" sz="1000" b="1"/>
              <a:t>Key Points:</a:t>
            </a: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Empowers customers to make sustainable choices</a:t>
            </a:r>
            <a:endParaRPr lang="en-US" sz="1000"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Differentiates brand as a sustainability leader</a:t>
            </a:r>
            <a:endParaRPr lang="en-US" sz="1000"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Streamlines customer support through automation</a:t>
            </a:r>
            <a:endParaRPr lang="en-US" sz="1000">
              <a:ea typeface="Calibri"/>
              <a:cs typeface="Calibri"/>
            </a:endParaRPr>
          </a:p>
          <a:p>
            <a:br>
              <a:rPr lang="en-IN" sz="1200"/>
            </a:br>
            <a:endParaRPr lang="en-GB" sz="1000"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A2B6DBA-B303-7E28-BF38-2FDA4BAC4620}"/>
              </a:ext>
            </a:extLst>
          </p:cNvPr>
          <p:cNvGrpSpPr/>
          <p:nvPr/>
        </p:nvGrpSpPr>
        <p:grpSpPr>
          <a:xfrm>
            <a:off x="4288249" y="2514917"/>
            <a:ext cx="3364786" cy="3362977"/>
            <a:chOff x="5358121" y="3458838"/>
            <a:chExt cx="2170542" cy="216937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67AF225-7745-136B-AFA4-8E3A113CCEAD}"/>
                </a:ext>
              </a:extLst>
            </p:cNvPr>
            <p:cNvGrpSpPr/>
            <p:nvPr/>
          </p:nvGrpSpPr>
          <p:grpSpPr>
            <a:xfrm>
              <a:off x="5358121" y="3458838"/>
              <a:ext cx="2170542" cy="2169376"/>
              <a:chOff x="1630705" y="1855798"/>
              <a:chExt cx="2268998" cy="2267780"/>
            </a:xfrm>
          </p:grpSpPr>
          <p:sp>
            <p:nvSpPr>
              <p:cNvPr id="29" name="Oval 155">
                <a:extLst>
                  <a:ext uri="{FF2B5EF4-FFF2-40B4-BE49-F238E27FC236}">
                    <a16:creationId xmlns:a16="http://schemas.microsoft.com/office/drawing/2014/main" id="{9170DC2E-0048-DE3B-F223-BE27DC3AE440}"/>
                  </a:ext>
                </a:extLst>
              </p:cNvPr>
              <p:cNvSpPr/>
              <p:nvPr/>
            </p:nvSpPr>
            <p:spPr bwMode="auto">
              <a:xfrm rot="2700000">
                <a:off x="2295441" y="1446964"/>
                <a:ext cx="939526" cy="1757194"/>
              </a:xfrm>
              <a:custGeom>
                <a:avLst/>
                <a:gdLst/>
                <a:ahLst/>
                <a:cxnLst/>
                <a:rect l="l" t="t" r="r" b="b"/>
                <a:pathLst>
                  <a:path w="1224136" h="2290176">
                    <a:moveTo>
                      <a:pt x="459315" y="63272"/>
                    </a:moveTo>
                    <a:cubicBezTo>
                      <a:pt x="498408" y="24179"/>
                      <a:pt x="552413" y="0"/>
                      <a:pt x="612067" y="0"/>
                    </a:cubicBezTo>
                    <a:cubicBezTo>
                      <a:pt x="731374" y="0"/>
                      <a:pt x="828091" y="96717"/>
                      <a:pt x="828091" y="216024"/>
                    </a:cubicBezTo>
                    <a:cubicBezTo>
                      <a:pt x="828091" y="299408"/>
                      <a:pt x="780848" y="371757"/>
                      <a:pt x="711216" y="406896"/>
                    </a:cubicBezTo>
                    <a:cubicBezTo>
                      <a:pt x="691916" y="450663"/>
                      <a:pt x="710516" y="496019"/>
                      <a:pt x="737802" y="533019"/>
                    </a:cubicBezTo>
                    <a:lnTo>
                      <a:pt x="1224136" y="533019"/>
                    </a:lnTo>
                    <a:lnTo>
                      <a:pt x="1224136" y="1019520"/>
                    </a:lnTo>
                    <a:cubicBezTo>
                      <a:pt x="1187224" y="1046736"/>
                      <a:pt x="1141992" y="1065189"/>
                      <a:pt x="1098339" y="1045939"/>
                    </a:cubicBezTo>
                    <a:cubicBezTo>
                      <a:pt x="1063200" y="976307"/>
                      <a:pt x="990851" y="929064"/>
                      <a:pt x="907467" y="929064"/>
                    </a:cubicBezTo>
                    <a:cubicBezTo>
                      <a:pt x="788160" y="929064"/>
                      <a:pt x="691443" y="1025781"/>
                      <a:pt x="691443" y="1145088"/>
                    </a:cubicBezTo>
                    <a:cubicBezTo>
                      <a:pt x="691443" y="1204742"/>
                      <a:pt x="715622" y="1258747"/>
                      <a:pt x="754715" y="1297840"/>
                    </a:cubicBezTo>
                    <a:cubicBezTo>
                      <a:pt x="793807" y="1336933"/>
                      <a:pt x="847813" y="1361112"/>
                      <a:pt x="907467" y="1361112"/>
                    </a:cubicBezTo>
                    <a:cubicBezTo>
                      <a:pt x="988927" y="1361112"/>
                      <a:pt x="1059856" y="1316024"/>
                      <a:pt x="1095778" y="1248955"/>
                    </a:cubicBezTo>
                    <a:cubicBezTo>
                      <a:pt x="1141514" y="1226580"/>
                      <a:pt x="1182162" y="1242465"/>
                      <a:pt x="1224136" y="1270694"/>
                    </a:cubicBezTo>
                    <a:lnTo>
                      <a:pt x="1224136" y="1757155"/>
                    </a:lnTo>
                    <a:lnTo>
                      <a:pt x="737829" y="1757155"/>
                    </a:lnTo>
                    <a:cubicBezTo>
                      <a:pt x="709519" y="1799263"/>
                      <a:pt x="693505" y="1839996"/>
                      <a:pt x="715934" y="1885841"/>
                    </a:cubicBezTo>
                    <a:cubicBezTo>
                      <a:pt x="783003" y="1921763"/>
                      <a:pt x="828091" y="1992692"/>
                      <a:pt x="828091" y="2074152"/>
                    </a:cubicBezTo>
                    <a:cubicBezTo>
                      <a:pt x="828091" y="2133806"/>
                      <a:pt x="803912" y="2187812"/>
                      <a:pt x="764819" y="2226904"/>
                    </a:cubicBezTo>
                    <a:cubicBezTo>
                      <a:pt x="725726" y="2265997"/>
                      <a:pt x="671721" y="2290176"/>
                      <a:pt x="612067" y="2290176"/>
                    </a:cubicBezTo>
                    <a:cubicBezTo>
                      <a:pt x="492760" y="2290176"/>
                      <a:pt x="396043" y="2193459"/>
                      <a:pt x="396043" y="2074152"/>
                    </a:cubicBezTo>
                    <a:cubicBezTo>
                      <a:pt x="396043" y="1990768"/>
                      <a:pt x="443286" y="1918419"/>
                      <a:pt x="512918" y="1883280"/>
                    </a:cubicBezTo>
                    <a:cubicBezTo>
                      <a:pt x="532218" y="1839512"/>
                      <a:pt x="513617" y="1794156"/>
                      <a:pt x="486331" y="1757155"/>
                    </a:cubicBezTo>
                    <a:lnTo>
                      <a:pt x="0" y="1757155"/>
                    </a:lnTo>
                    <a:lnTo>
                      <a:pt x="0" y="1267857"/>
                    </a:lnTo>
                    <a:cubicBezTo>
                      <a:pt x="35436" y="1241878"/>
                      <a:pt x="78596" y="1225841"/>
                      <a:pt x="120314" y="1244237"/>
                    </a:cubicBezTo>
                    <a:cubicBezTo>
                      <a:pt x="155453" y="1313869"/>
                      <a:pt x="227802" y="1361112"/>
                      <a:pt x="311186" y="1361112"/>
                    </a:cubicBezTo>
                    <a:cubicBezTo>
                      <a:pt x="430493" y="1361112"/>
                      <a:pt x="527210" y="1264395"/>
                      <a:pt x="527210" y="1145088"/>
                    </a:cubicBezTo>
                    <a:cubicBezTo>
                      <a:pt x="527210" y="1085434"/>
                      <a:pt x="503031" y="1031429"/>
                      <a:pt x="463938" y="992336"/>
                    </a:cubicBezTo>
                    <a:cubicBezTo>
                      <a:pt x="424846" y="953243"/>
                      <a:pt x="370840" y="929064"/>
                      <a:pt x="311186" y="929064"/>
                    </a:cubicBezTo>
                    <a:cubicBezTo>
                      <a:pt x="229726" y="929064"/>
                      <a:pt x="158797" y="974152"/>
                      <a:pt x="122875" y="1041221"/>
                    </a:cubicBezTo>
                    <a:cubicBezTo>
                      <a:pt x="78969" y="1062702"/>
                      <a:pt x="39751" y="1048921"/>
                      <a:pt x="0" y="1022105"/>
                    </a:cubicBezTo>
                    <a:lnTo>
                      <a:pt x="0" y="533019"/>
                    </a:lnTo>
                    <a:lnTo>
                      <a:pt x="486305" y="533019"/>
                    </a:lnTo>
                    <a:cubicBezTo>
                      <a:pt x="514616" y="490912"/>
                      <a:pt x="530628" y="450179"/>
                      <a:pt x="508200" y="404335"/>
                    </a:cubicBezTo>
                    <a:cubicBezTo>
                      <a:pt x="441131" y="368413"/>
                      <a:pt x="396043" y="297484"/>
                      <a:pt x="396043" y="216024"/>
                    </a:cubicBezTo>
                    <a:cubicBezTo>
                      <a:pt x="396043" y="156370"/>
                      <a:pt x="420222" y="102364"/>
                      <a:pt x="459315" y="63272"/>
                    </a:cubicBezTo>
                    <a:close/>
                  </a:path>
                </a:pathLst>
              </a:custGeom>
              <a:solidFill>
                <a:srgbClr val="26493A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anchor="ctr"/>
              <a:lstStyle/>
              <a:p>
                <a:pPr algn="ctr" defTabSz="1219170" eaLnBrk="0" fontAlgn="base" hangingPunct="0">
                  <a:defRPr/>
                </a:pPr>
                <a:endParaRPr lang="en-US" sz="130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30" name="Oval 155">
                <a:extLst>
                  <a:ext uri="{FF2B5EF4-FFF2-40B4-BE49-F238E27FC236}">
                    <a16:creationId xmlns:a16="http://schemas.microsoft.com/office/drawing/2014/main" id="{AF335798-3090-A7D0-9D81-80E8E9D956DF}"/>
                  </a:ext>
                </a:extLst>
              </p:cNvPr>
              <p:cNvSpPr/>
              <p:nvPr/>
            </p:nvSpPr>
            <p:spPr bwMode="auto">
              <a:xfrm rot="18900000">
                <a:off x="2960176" y="2111700"/>
                <a:ext cx="939527" cy="1755976"/>
              </a:xfrm>
              <a:custGeom>
                <a:avLst/>
                <a:gdLst/>
                <a:ahLst/>
                <a:cxnLst/>
                <a:rect l="l" t="t" r="r" b="b"/>
                <a:pathLst>
                  <a:path w="1224136" h="2290176">
                    <a:moveTo>
                      <a:pt x="764820" y="63272"/>
                    </a:moveTo>
                    <a:cubicBezTo>
                      <a:pt x="803913" y="102365"/>
                      <a:pt x="828092" y="156370"/>
                      <a:pt x="828092" y="216024"/>
                    </a:cubicBezTo>
                    <a:cubicBezTo>
                      <a:pt x="828092" y="299408"/>
                      <a:pt x="780849" y="371757"/>
                      <a:pt x="711217" y="406896"/>
                    </a:cubicBezTo>
                    <a:cubicBezTo>
                      <a:pt x="691917" y="450664"/>
                      <a:pt x="710518" y="496020"/>
                      <a:pt x="737803" y="533020"/>
                    </a:cubicBezTo>
                    <a:lnTo>
                      <a:pt x="1224136" y="533020"/>
                    </a:lnTo>
                    <a:lnTo>
                      <a:pt x="1224136" y="1022318"/>
                    </a:lnTo>
                    <a:cubicBezTo>
                      <a:pt x="1188700" y="1048297"/>
                      <a:pt x="1145539" y="1064335"/>
                      <a:pt x="1103821" y="1045938"/>
                    </a:cubicBezTo>
                    <a:cubicBezTo>
                      <a:pt x="1068682" y="976306"/>
                      <a:pt x="996333" y="929063"/>
                      <a:pt x="912949" y="929063"/>
                    </a:cubicBezTo>
                    <a:cubicBezTo>
                      <a:pt x="793642" y="929063"/>
                      <a:pt x="696925" y="1025780"/>
                      <a:pt x="696925" y="1145087"/>
                    </a:cubicBezTo>
                    <a:cubicBezTo>
                      <a:pt x="696925" y="1204741"/>
                      <a:pt x="721104" y="1258746"/>
                      <a:pt x="760197" y="1297839"/>
                    </a:cubicBezTo>
                    <a:cubicBezTo>
                      <a:pt x="799289" y="1336932"/>
                      <a:pt x="853295" y="1361111"/>
                      <a:pt x="912949" y="1361111"/>
                    </a:cubicBezTo>
                    <a:cubicBezTo>
                      <a:pt x="994409" y="1361111"/>
                      <a:pt x="1065338" y="1316024"/>
                      <a:pt x="1101260" y="1248954"/>
                    </a:cubicBezTo>
                    <a:cubicBezTo>
                      <a:pt x="1145167" y="1227474"/>
                      <a:pt x="1184385" y="1241254"/>
                      <a:pt x="1224136" y="1268071"/>
                    </a:cubicBezTo>
                    <a:lnTo>
                      <a:pt x="1224136" y="1757156"/>
                    </a:lnTo>
                    <a:lnTo>
                      <a:pt x="737830" y="1757156"/>
                    </a:lnTo>
                    <a:cubicBezTo>
                      <a:pt x="709520" y="1799264"/>
                      <a:pt x="693507" y="1839997"/>
                      <a:pt x="715935" y="1885841"/>
                    </a:cubicBezTo>
                    <a:cubicBezTo>
                      <a:pt x="783004" y="1921763"/>
                      <a:pt x="828092" y="1992692"/>
                      <a:pt x="828092" y="2074152"/>
                    </a:cubicBezTo>
                    <a:cubicBezTo>
                      <a:pt x="828092" y="2133806"/>
                      <a:pt x="803913" y="2187812"/>
                      <a:pt x="764820" y="2226904"/>
                    </a:cubicBezTo>
                    <a:cubicBezTo>
                      <a:pt x="725727" y="2265997"/>
                      <a:pt x="671722" y="2290176"/>
                      <a:pt x="612068" y="2290176"/>
                    </a:cubicBezTo>
                    <a:cubicBezTo>
                      <a:pt x="492761" y="2290176"/>
                      <a:pt x="396044" y="2193459"/>
                      <a:pt x="396044" y="2074152"/>
                    </a:cubicBezTo>
                    <a:cubicBezTo>
                      <a:pt x="396044" y="1990768"/>
                      <a:pt x="443287" y="1918419"/>
                      <a:pt x="512919" y="1883280"/>
                    </a:cubicBezTo>
                    <a:cubicBezTo>
                      <a:pt x="532219" y="1839512"/>
                      <a:pt x="513618" y="1794157"/>
                      <a:pt x="486333" y="1757156"/>
                    </a:cubicBezTo>
                    <a:lnTo>
                      <a:pt x="0" y="1757156"/>
                    </a:lnTo>
                    <a:lnTo>
                      <a:pt x="0" y="1271295"/>
                    </a:lnTo>
                    <a:cubicBezTo>
                      <a:pt x="37251" y="1243817"/>
                      <a:pt x="82955" y="1224793"/>
                      <a:pt x="127049" y="1244237"/>
                    </a:cubicBezTo>
                    <a:cubicBezTo>
                      <a:pt x="162188" y="1313869"/>
                      <a:pt x="234537" y="1361112"/>
                      <a:pt x="317921" y="1361112"/>
                    </a:cubicBezTo>
                    <a:cubicBezTo>
                      <a:pt x="437228" y="1361112"/>
                      <a:pt x="533945" y="1264395"/>
                      <a:pt x="533945" y="1145088"/>
                    </a:cubicBezTo>
                    <a:cubicBezTo>
                      <a:pt x="533945" y="1085434"/>
                      <a:pt x="509766" y="1031429"/>
                      <a:pt x="470673" y="992336"/>
                    </a:cubicBezTo>
                    <a:cubicBezTo>
                      <a:pt x="431581" y="953243"/>
                      <a:pt x="377575" y="929064"/>
                      <a:pt x="317921" y="929064"/>
                    </a:cubicBezTo>
                    <a:cubicBezTo>
                      <a:pt x="236461" y="929064"/>
                      <a:pt x="165532" y="974152"/>
                      <a:pt x="129610" y="1041221"/>
                    </a:cubicBezTo>
                    <a:cubicBezTo>
                      <a:pt x="83460" y="1063799"/>
                      <a:pt x="42490" y="1047421"/>
                      <a:pt x="0" y="1018884"/>
                    </a:cubicBezTo>
                    <a:lnTo>
                      <a:pt x="0" y="533020"/>
                    </a:lnTo>
                    <a:lnTo>
                      <a:pt x="486306" y="533020"/>
                    </a:lnTo>
                    <a:cubicBezTo>
                      <a:pt x="514616" y="490912"/>
                      <a:pt x="530629" y="450179"/>
                      <a:pt x="508201" y="404335"/>
                    </a:cubicBezTo>
                    <a:cubicBezTo>
                      <a:pt x="441132" y="368413"/>
                      <a:pt x="396044" y="297484"/>
                      <a:pt x="396044" y="216024"/>
                    </a:cubicBezTo>
                    <a:cubicBezTo>
                      <a:pt x="396044" y="156370"/>
                      <a:pt x="420223" y="102364"/>
                      <a:pt x="459316" y="63272"/>
                    </a:cubicBezTo>
                    <a:cubicBezTo>
                      <a:pt x="498409" y="24179"/>
                      <a:pt x="552414" y="0"/>
                      <a:pt x="612068" y="0"/>
                    </a:cubicBezTo>
                    <a:cubicBezTo>
                      <a:pt x="671722" y="0"/>
                      <a:pt x="725728" y="24180"/>
                      <a:pt x="764820" y="63272"/>
                    </a:cubicBezTo>
                    <a:close/>
                  </a:path>
                </a:pathLst>
              </a:custGeom>
              <a:solidFill>
                <a:srgbClr val="6B8F7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anchor="ctr"/>
              <a:lstStyle/>
              <a:p>
                <a:pPr algn="ctr" defTabSz="1219170" eaLnBrk="0" fontAlgn="base" hangingPunct="0">
                  <a:defRPr/>
                </a:pPr>
                <a:endParaRPr lang="en-US" sz="1300" err="1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31" name="Oval 155">
                <a:extLst>
                  <a:ext uri="{FF2B5EF4-FFF2-40B4-BE49-F238E27FC236}">
                    <a16:creationId xmlns:a16="http://schemas.microsoft.com/office/drawing/2014/main" id="{D86F1438-283B-521F-95E4-A881A1EED42A}"/>
                  </a:ext>
                </a:extLst>
              </p:cNvPr>
              <p:cNvSpPr/>
              <p:nvPr/>
            </p:nvSpPr>
            <p:spPr bwMode="auto">
              <a:xfrm rot="18900000">
                <a:off x="1630705" y="2111700"/>
                <a:ext cx="939526" cy="1755976"/>
              </a:xfrm>
              <a:custGeom>
                <a:avLst/>
                <a:gdLst/>
                <a:ahLst/>
                <a:cxnLst/>
                <a:rect l="l" t="t" r="r" b="b"/>
                <a:pathLst>
                  <a:path w="1224136" h="2290177">
                    <a:moveTo>
                      <a:pt x="764821" y="63272"/>
                    </a:moveTo>
                    <a:cubicBezTo>
                      <a:pt x="803914" y="102365"/>
                      <a:pt x="828093" y="156370"/>
                      <a:pt x="828093" y="216024"/>
                    </a:cubicBezTo>
                    <a:cubicBezTo>
                      <a:pt x="828093" y="299408"/>
                      <a:pt x="780850" y="371757"/>
                      <a:pt x="711218" y="406896"/>
                    </a:cubicBezTo>
                    <a:cubicBezTo>
                      <a:pt x="691918" y="450664"/>
                      <a:pt x="710519" y="496020"/>
                      <a:pt x="737804" y="533020"/>
                    </a:cubicBezTo>
                    <a:lnTo>
                      <a:pt x="1224136" y="533020"/>
                    </a:lnTo>
                    <a:lnTo>
                      <a:pt x="1224136" y="1019537"/>
                    </a:lnTo>
                    <a:cubicBezTo>
                      <a:pt x="1187233" y="1046745"/>
                      <a:pt x="1142014" y="1065183"/>
                      <a:pt x="1098373" y="1045938"/>
                    </a:cubicBezTo>
                    <a:cubicBezTo>
                      <a:pt x="1063233" y="976306"/>
                      <a:pt x="990884" y="929063"/>
                      <a:pt x="907500" y="929063"/>
                    </a:cubicBezTo>
                    <a:cubicBezTo>
                      <a:pt x="788193" y="929063"/>
                      <a:pt x="691476" y="1025780"/>
                      <a:pt x="691476" y="1145087"/>
                    </a:cubicBezTo>
                    <a:cubicBezTo>
                      <a:pt x="691476" y="1204741"/>
                      <a:pt x="715655" y="1258747"/>
                      <a:pt x="754748" y="1297839"/>
                    </a:cubicBezTo>
                    <a:cubicBezTo>
                      <a:pt x="793841" y="1336932"/>
                      <a:pt x="847846" y="1361111"/>
                      <a:pt x="907500" y="1361111"/>
                    </a:cubicBezTo>
                    <a:cubicBezTo>
                      <a:pt x="988961" y="1361111"/>
                      <a:pt x="1059890" y="1316024"/>
                      <a:pt x="1095811" y="1248954"/>
                    </a:cubicBezTo>
                    <a:cubicBezTo>
                      <a:pt x="1141537" y="1226584"/>
                      <a:pt x="1182177" y="1242456"/>
                      <a:pt x="1224136" y="1270677"/>
                    </a:cubicBezTo>
                    <a:lnTo>
                      <a:pt x="1224136" y="1757156"/>
                    </a:lnTo>
                    <a:lnTo>
                      <a:pt x="737831" y="1757156"/>
                    </a:lnTo>
                    <a:cubicBezTo>
                      <a:pt x="709521" y="1799265"/>
                      <a:pt x="693508" y="1839998"/>
                      <a:pt x="715937" y="1885842"/>
                    </a:cubicBezTo>
                    <a:cubicBezTo>
                      <a:pt x="783005" y="1921764"/>
                      <a:pt x="828094" y="1992693"/>
                      <a:pt x="828094" y="2074153"/>
                    </a:cubicBezTo>
                    <a:cubicBezTo>
                      <a:pt x="828093" y="2133807"/>
                      <a:pt x="803915" y="2187813"/>
                      <a:pt x="764821" y="2226905"/>
                    </a:cubicBezTo>
                    <a:cubicBezTo>
                      <a:pt x="725728" y="2265998"/>
                      <a:pt x="671723" y="2290177"/>
                      <a:pt x="612070" y="2290177"/>
                    </a:cubicBezTo>
                    <a:cubicBezTo>
                      <a:pt x="492762" y="2290177"/>
                      <a:pt x="396045" y="2193460"/>
                      <a:pt x="396045" y="2074153"/>
                    </a:cubicBezTo>
                    <a:cubicBezTo>
                      <a:pt x="396045" y="1990769"/>
                      <a:pt x="443288" y="1918420"/>
                      <a:pt x="512921" y="1883281"/>
                    </a:cubicBezTo>
                    <a:cubicBezTo>
                      <a:pt x="532220" y="1839513"/>
                      <a:pt x="513619" y="1794157"/>
                      <a:pt x="486333" y="1757155"/>
                    </a:cubicBezTo>
                    <a:lnTo>
                      <a:pt x="1" y="1757156"/>
                    </a:lnTo>
                    <a:lnTo>
                      <a:pt x="1" y="1271298"/>
                    </a:lnTo>
                    <a:cubicBezTo>
                      <a:pt x="37251" y="1243817"/>
                      <a:pt x="82956" y="1224794"/>
                      <a:pt x="127049" y="1244238"/>
                    </a:cubicBezTo>
                    <a:cubicBezTo>
                      <a:pt x="162189" y="1313869"/>
                      <a:pt x="234538" y="1361113"/>
                      <a:pt x="317921" y="1361113"/>
                    </a:cubicBezTo>
                    <a:cubicBezTo>
                      <a:pt x="437228" y="1361113"/>
                      <a:pt x="533945" y="1264396"/>
                      <a:pt x="533945" y="1145089"/>
                    </a:cubicBezTo>
                    <a:cubicBezTo>
                      <a:pt x="533945" y="1085435"/>
                      <a:pt x="509766" y="1031429"/>
                      <a:pt x="470673" y="992337"/>
                    </a:cubicBezTo>
                    <a:cubicBezTo>
                      <a:pt x="431581" y="953244"/>
                      <a:pt x="377575" y="929065"/>
                      <a:pt x="317921" y="929065"/>
                    </a:cubicBezTo>
                    <a:cubicBezTo>
                      <a:pt x="236461" y="929065"/>
                      <a:pt x="165532" y="974153"/>
                      <a:pt x="129610" y="1041222"/>
                    </a:cubicBezTo>
                    <a:cubicBezTo>
                      <a:pt x="83461" y="1063799"/>
                      <a:pt x="42491" y="1047422"/>
                      <a:pt x="0" y="1018884"/>
                    </a:cubicBezTo>
                    <a:lnTo>
                      <a:pt x="0" y="533020"/>
                    </a:lnTo>
                    <a:lnTo>
                      <a:pt x="486307" y="533020"/>
                    </a:lnTo>
                    <a:cubicBezTo>
                      <a:pt x="514617" y="490912"/>
                      <a:pt x="530630" y="450179"/>
                      <a:pt x="508202" y="404335"/>
                    </a:cubicBezTo>
                    <a:cubicBezTo>
                      <a:pt x="441133" y="368413"/>
                      <a:pt x="396045" y="297484"/>
                      <a:pt x="396045" y="216024"/>
                    </a:cubicBezTo>
                    <a:cubicBezTo>
                      <a:pt x="396045" y="156370"/>
                      <a:pt x="420224" y="102364"/>
                      <a:pt x="459317" y="63272"/>
                    </a:cubicBezTo>
                    <a:cubicBezTo>
                      <a:pt x="498410" y="24179"/>
                      <a:pt x="552415" y="0"/>
                      <a:pt x="612069" y="0"/>
                    </a:cubicBezTo>
                    <a:cubicBezTo>
                      <a:pt x="671723" y="0"/>
                      <a:pt x="725728" y="24179"/>
                      <a:pt x="764821" y="63272"/>
                    </a:cubicBezTo>
                    <a:close/>
                  </a:path>
                </a:pathLst>
              </a:custGeom>
              <a:solidFill>
                <a:srgbClr val="C98F4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anchor="ctr"/>
              <a:lstStyle/>
              <a:p>
                <a:pPr algn="ctr" defTabSz="1219170" eaLnBrk="0" fontAlgn="base" hangingPunct="0">
                  <a:defRPr/>
                </a:pPr>
                <a:endParaRPr lang="en-US" sz="1300" err="1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32" name="Rectangle 140">
                <a:extLst>
                  <a:ext uri="{FF2B5EF4-FFF2-40B4-BE49-F238E27FC236}">
                    <a16:creationId xmlns:a16="http://schemas.microsoft.com/office/drawing/2014/main" id="{B5F60498-DC68-3757-1BB0-9782734F1EC0}"/>
                  </a:ext>
                </a:extLst>
              </p:cNvPr>
              <p:cNvSpPr/>
              <p:nvPr/>
            </p:nvSpPr>
            <p:spPr bwMode="auto">
              <a:xfrm rot="2700000">
                <a:off x="2295441" y="2775218"/>
                <a:ext cx="939526" cy="1757194"/>
              </a:xfrm>
              <a:custGeom>
                <a:avLst/>
                <a:gdLst/>
                <a:ahLst/>
                <a:cxnLst/>
                <a:rect l="l" t="t" r="r" b="b"/>
                <a:pathLst>
                  <a:path w="1224136" h="2290176">
                    <a:moveTo>
                      <a:pt x="459315" y="63272"/>
                    </a:moveTo>
                    <a:cubicBezTo>
                      <a:pt x="498408" y="24178"/>
                      <a:pt x="552413" y="-1"/>
                      <a:pt x="612067" y="0"/>
                    </a:cubicBezTo>
                    <a:cubicBezTo>
                      <a:pt x="731374" y="-1"/>
                      <a:pt x="828091" y="96717"/>
                      <a:pt x="828091" y="216024"/>
                    </a:cubicBezTo>
                    <a:cubicBezTo>
                      <a:pt x="828091" y="299408"/>
                      <a:pt x="780848" y="371756"/>
                      <a:pt x="711216" y="406896"/>
                    </a:cubicBezTo>
                    <a:cubicBezTo>
                      <a:pt x="691916" y="450663"/>
                      <a:pt x="710517" y="496019"/>
                      <a:pt x="737802" y="533019"/>
                    </a:cubicBezTo>
                    <a:lnTo>
                      <a:pt x="1224136" y="533019"/>
                    </a:lnTo>
                    <a:lnTo>
                      <a:pt x="1224136" y="1022319"/>
                    </a:lnTo>
                    <a:cubicBezTo>
                      <a:pt x="1188699" y="1048297"/>
                      <a:pt x="1145539" y="1064335"/>
                      <a:pt x="1103821" y="1045939"/>
                    </a:cubicBezTo>
                    <a:cubicBezTo>
                      <a:pt x="1068681" y="976307"/>
                      <a:pt x="996332" y="929064"/>
                      <a:pt x="912948" y="929064"/>
                    </a:cubicBezTo>
                    <a:cubicBezTo>
                      <a:pt x="793641" y="929064"/>
                      <a:pt x="696924" y="1025781"/>
                      <a:pt x="696924" y="1145088"/>
                    </a:cubicBezTo>
                    <a:cubicBezTo>
                      <a:pt x="696924" y="1204742"/>
                      <a:pt x="721103" y="1258747"/>
                      <a:pt x="760196" y="1297840"/>
                    </a:cubicBezTo>
                    <a:cubicBezTo>
                      <a:pt x="799288" y="1336933"/>
                      <a:pt x="853295" y="1361112"/>
                      <a:pt x="912948" y="1361112"/>
                    </a:cubicBezTo>
                    <a:cubicBezTo>
                      <a:pt x="994408" y="1361112"/>
                      <a:pt x="1065338" y="1316024"/>
                      <a:pt x="1101259" y="1248955"/>
                    </a:cubicBezTo>
                    <a:cubicBezTo>
                      <a:pt x="1145166" y="1227475"/>
                      <a:pt x="1184384" y="1241255"/>
                      <a:pt x="1224136" y="1268072"/>
                    </a:cubicBezTo>
                    <a:lnTo>
                      <a:pt x="1224136" y="1757155"/>
                    </a:lnTo>
                    <a:lnTo>
                      <a:pt x="737830" y="1757155"/>
                    </a:lnTo>
                    <a:cubicBezTo>
                      <a:pt x="709519" y="1799263"/>
                      <a:pt x="693506" y="1839996"/>
                      <a:pt x="715934" y="1885841"/>
                    </a:cubicBezTo>
                    <a:cubicBezTo>
                      <a:pt x="783003" y="1921763"/>
                      <a:pt x="828091" y="1992692"/>
                      <a:pt x="828091" y="2074152"/>
                    </a:cubicBezTo>
                    <a:cubicBezTo>
                      <a:pt x="828091" y="2133806"/>
                      <a:pt x="803912" y="2187812"/>
                      <a:pt x="764819" y="2226904"/>
                    </a:cubicBezTo>
                    <a:cubicBezTo>
                      <a:pt x="725726" y="2265997"/>
                      <a:pt x="671721" y="2290176"/>
                      <a:pt x="612067" y="2290176"/>
                    </a:cubicBezTo>
                    <a:cubicBezTo>
                      <a:pt x="492760" y="2290176"/>
                      <a:pt x="396043" y="2193459"/>
                      <a:pt x="396043" y="2074152"/>
                    </a:cubicBezTo>
                    <a:cubicBezTo>
                      <a:pt x="396043" y="1990768"/>
                      <a:pt x="443286" y="1918419"/>
                      <a:pt x="512918" y="1883280"/>
                    </a:cubicBezTo>
                    <a:cubicBezTo>
                      <a:pt x="532219" y="1839511"/>
                      <a:pt x="513617" y="1794156"/>
                      <a:pt x="486332" y="1757155"/>
                    </a:cubicBezTo>
                    <a:lnTo>
                      <a:pt x="0" y="1757155"/>
                    </a:lnTo>
                    <a:lnTo>
                      <a:pt x="0" y="1270658"/>
                    </a:lnTo>
                    <a:cubicBezTo>
                      <a:pt x="36913" y="1243440"/>
                      <a:pt x="82146" y="1224987"/>
                      <a:pt x="125800" y="1244235"/>
                    </a:cubicBezTo>
                    <a:cubicBezTo>
                      <a:pt x="160938" y="1313868"/>
                      <a:pt x="233287" y="1361111"/>
                      <a:pt x="316671" y="1361111"/>
                    </a:cubicBezTo>
                    <a:cubicBezTo>
                      <a:pt x="435979" y="1361111"/>
                      <a:pt x="532696" y="1264394"/>
                      <a:pt x="532695" y="1145087"/>
                    </a:cubicBezTo>
                    <a:cubicBezTo>
                      <a:pt x="532696" y="1085433"/>
                      <a:pt x="508516" y="1031428"/>
                      <a:pt x="469423" y="992335"/>
                    </a:cubicBezTo>
                    <a:cubicBezTo>
                      <a:pt x="430331" y="953241"/>
                      <a:pt x="376325" y="929063"/>
                      <a:pt x="316671" y="929063"/>
                    </a:cubicBezTo>
                    <a:cubicBezTo>
                      <a:pt x="235212" y="929062"/>
                      <a:pt x="164282" y="974151"/>
                      <a:pt x="128360" y="1041219"/>
                    </a:cubicBezTo>
                    <a:cubicBezTo>
                      <a:pt x="82624" y="1063596"/>
                      <a:pt x="41974" y="1047710"/>
                      <a:pt x="0" y="1019480"/>
                    </a:cubicBezTo>
                    <a:lnTo>
                      <a:pt x="0" y="533019"/>
                    </a:lnTo>
                    <a:lnTo>
                      <a:pt x="486306" y="533019"/>
                    </a:lnTo>
                    <a:cubicBezTo>
                      <a:pt x="514616" y="490911"/>
                      <a:pt x="530629" y="450179"/>
                      <a:pt x="508200" y="404335"/>
                    </a:cubicBezTo>
                    <a:cubicBezTo>
                      <a:pt x="441131" y="368413"/>
                      <a:pt x="396043" y="297484"/>
                      <a:pt x="396043" y="216024"/>
                    </a:cubicBezTo>
                    <a:cubicBezTo>
                      <a:pt x="396043" y="156370"/>
                      <a:pt x="420223" y="102364"/>
                      <a:pt x="459315" y="63272"/>
                    </a:cubicBezTo>
                    <a:close/>
                  </a:path>
                </a:pathLst>
              </a:custGeom>
              <a:solidFill>
                <a:srgbClr val="9C8F6B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anchor="ctr"/>
              <a:lstStyle/>
              <a:p>
                <a:pPr algn="ctr" defTabSz="1219170" eaLnBrk="0" fontAlgn="base" hangingPunct="0">
                  <a:defRPr/>
                </a:pPr>
                <a:endParaRPr lang="en-US" sz="1300" err="1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D810FEF-D07C-7DB2-0E47-BA37AC134F88}"/>
                </a:ext>
              </a:extLst>
            </p:cNvPr>
            <p:cNvSpPr/>
            <p:nvPr/>
          </p:nvSpPr>
          <p:spPr bwMode="gray">
            <a:xfrm>
              <a:off x="5768638" y="3886701"/>
              <a:ext cx="1363452" cy="1311815"/>
            </a:xfrm>
            <a:prstGeom prst="ellipse">
              <a:avLst/>
            </a:prstGeom>
            <a:solidFill>
              <a:srgbClr val="1B3B2F"/>
            </a:solidFill>
            <a:ln w="19050" algn="ctr">
              <a:noFill/>
              <a:miter lim="800000"/>
              <a:headEnd/>
              <a:tailEnd/>
            </a:ln>
          </p:spPr>
          <p:txBody>
            <a:bodyPr wrap="none" lIns="0" tIns="0" rIns="0" bIns="0" anchor="t"/>
            <a:lstStyle/>
            <a:p>
              <a:pPr algn="ctr" defTabSz="1219170" eaLnBrk="0" fontAlgn="base" hangingPunct="0">
                <a:defRPr/>
              </a:pPr>
              <a:endParaRPr lang="en-US" sz="16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9969C95-4EF0-A59C-F2D1-684FA8A14BD2}"/>
                </a:ext>
              </a:extLst>
            </p:cNvPr>
            <p:cNvGrpSpPr/>
            <p:nvPr/>
          </p:nvGrpSpPr>
          <p:grpSpPr>
            <a:xfrm>
              <a:off x="6339107" y="4507983"/>
              <a:ext cx="210462" cy="294266"/>
              <a:chOff x="9467850" y="3089276"/>
              <a:chExt cx="350838" cy="490537"/>
            </a:xfrm>
            <a:solidFill>
              <a:schemeClr val="bg1"/>
            </a:solidFill>
          </p:grpSpPr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5B988C24-6FBB-4F35-7836-7C83D9AF9B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467850" y="3089276"/>
                <a:ext cx="146050" cy="147638"/>
              </a:xfrm>
              <a:custGeom>
                <a:avLst/>
                <a:gdLst>
                  <a:gd name="T0" fmla="*/ 21 w 41"/>
                  <a:gd name="T1" fmla="*/ 0 h 42"/>
                  <a:gd name="T2" fmla="*/ 0 w 41"/>
                  <a:gd name="T3" fmla="*/ 21 h 42"/>
                  <a:gd name="T4" fmla="*/ 21 w 41"/>
                  <a:gd name="T5" fmla="*/ 42 h 42"/>
                  <a:gd name="T6" fmla="*/ 41 w 41"/>
                  <a:gd name="T7" fmla="*/ 21 h 42"/>
                  <a:gd name="T8" fmla="*/ 21 w 41"/>
                  <a:gd name="T9" fmla="*/ 0 h 42"/>
                  <a:gd name="T10" fmla="*/ 21 w 41"/>
                  <a:gd name="T11" fmla="*/ 33 h 42"/>
                  <a:gd name="T12" fmla="*/ 9 w 41"/>
                  <a:gd name="T13" fmla="*/ 21 h 42"/>
                  <a:gd name="T14" fmla="*/ 21 w 41"/>
                  <a:gd name="T15" fmla="*/ 10 h 42"/>
                  <a:gd name="T16" fmla="*/ 32 w 41"/>
                  <a:gd name="T17" fmla="*/ 21 h 42"/>
                  <a:gd name="T18" fmla="*/ 21 w 41"/>
                  <a:gd name="T19" fmla="*/ 33 h 42"/>
                  <a:gd name="T20" fmla="*/ 21 w 41"/>
                  <a:gd name="T21" fmla="*/ 33 h 42"/>
                  <a:gd name="T22" fmla="*/ 21 w 41"/>
                  <a:gd name="T23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1" h="42">
                    <a:moveTo>
                      <a:pt x="21" y="0"/>
                    </a:moveTo>
                    <a:cubicBezTo>
                      <a:pt x="9" y="0"/>
                      <a:pt x="0" y="10"/>
                      <a:pt x="0" y="21"/>
                    </a:cubicBezTo>
                    <a:cubicBezTo>
                      <a:pt x="0" y="33"/>
                      <a:pt x="9" y="42"/>
                      <a:pt x="21" y="42"/>
                    </a:cubicBezTo>
                    <a:cubicBezTo>
                      <a:pt x="32" y="42"/>
                      <a:pt x="41" y="33"/>
                      <a:pt x="41" y="21"/>
                    </a:cubicBezTo>
                    <a:cubicBezTo>
                      <a:pt x="41" y="10"/>
                      <a:pt x="32" y="0"/>
                      <a:pt x="21" y="0"/>
                    </a:cubicBezTo>
                    <a:close/>
                    <a:moveTo>
                      <a:pt x="21" y="33"/>
                    </a:moveTo>
                    <a:cubicBezTo>
                      <a:pt x="14" y="33"/>
                      <a:pt x="9" y="28"/>
                      <a:pt x="9" y="21"/>
                    </a:cubicBezTo>
                    <a:cubicBezTo>
                      <a:pt x="9" y="15"/>
                      <a:pt x="14" y="10"/>
                      <a:pt x="21" y="10"/>
                    </a:cubicBezTo>
                    <a:cubicBezTo>
                      <a:pt x="27" y="10"/>
                      <a:pt x="32" y="15"/>
                      <a:pt x="32" y="21"/>
                    </a:cubicBezTo>
                    <a:cubicBezTo>
                      <a:pt x="32" y="28"/>
                      <a:pt x="27" y="33"/>
                      <a:pt x="21" y="33"/>
                    </a:cubicBezTo>
                    <a:close/>
                    <a:moveTo>
                      <a:pt x="21" y="33"/>
                    </a:moveTo>
                    <a:cubicBezTo>
                      <a:pt x="21" y="33"/>
                      <a:pt x="21" y="33"/>
                      <a:pt x="21" y="3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300">
                  <a:latin typeface="Aptos" panose="020B0004020202020204" pitchFamily="34" charset="0"/>
                </a:endParaRPr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C839B6EE-9ADA-C7B0-8689-D1D3C325F7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669463" y="3089276"/>
                <a:ext cx="149225" cy="147638"/>
              </a:xfrm>
              <a:custGeom>
                <a:avLst/>
                <a:gdLst>
                  <a:gd name="T0" fmla="*/ 21 w 42"/>
                  <a:gd name="T1" fmla="*/ 0 h 42"/>
                  <a:gd name="T2" fmla="*/ 0 w 42"/>
                  <a:gd name="T3" fmla="*/ 21 h 42"/>
                  <a:gd name="T4" fmla="*/ 21 w 42"/>
                  <a:gd name="T5" fmla="*/ 42 h 42"/>
                  <a:gd name="T6" fmla="*/ 42 w 42"/>
                  <a:gd name="T7" fmla="*/ 21 h 42"/>
                  <a:gd name="T8" fmla="*/ 21 w 42"/>
                  <a:gd name="T9" fmla="*/ 0 h 42"/>
                  <a:gd name="T10" fmla="*/ 21 w 42"/>
                  <a:gd name="T11" fmla="*/ 33 h 42"/>
                  <a:gd name="T12" fmla="*/ 9 w 42"/>
                  <a:gd name="T13" fmla="*/ 21 h 42"/>
                  <a:gd name="T14" fmla="*/ 21 w 42"/>
                  <a:gd name="T15" fmla="*/ 10 h 42"/>
                  <a:gd name="T16" fmla="*/ 32 w 42"/>
                  <a:gd name="T17" fmla="*/ 21 h 42"/>
                  <a:gd name="T18" fmla="*/ 21 w 42"/>
                  <a:gd name="T19" fmla="*/ 33 h 42"/>
                  <a:gd name="T20" fmla="*/ 21 w 42"/>
                  <a:gd name="T21" fmla="*/ 33 h 42"/>
                  <a:gd name="T22" fmla="*/ 21 w 42"/>
                  <a:gd name="T23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2" h="42">
                    <a:moveTo>
                      <a:pt x="21" y="0"/>
                    </a:moveTo>
                    <a:cubicBezTo>
                      <a:pt x="9" y="0"/>
                      <a:pt x="0" y="10"/>
                      <a:pt x="0" y="21"/>
                    </a:cubicBezTo>
                    <a:cubicBezTo>
                      <a:pt x="0" y="33"/>
                      <a:pt x="9" y="42"/>
                      <a:pt x="21" y="42"/>
                    </a:cubicBezTo>
                    <a:cubicBezTo>
                      <a:pt x="32" y="42"/>
                      <a:pt x="42" y="33"/>
                      <a:pt x="42" y="21"/>
                    </a:cubicBezTo>
                    <a:cubicBezTo>
                      <a:pt x="42" y="10"/>
                      <a:pt x="32" y="0"/>
                      <a:pt x="21" y="0"/>
                    </a:cubicBezTo>
                    <a:close/>
                    <a:moveTo>
                      <a:pt x="21" y="33"/>
                    </a:moveTo>
                    <a:cubicBezTo>
                      <a:pt x="14" y="33"/>
                      <a:pt x="9" y="28"/>
                      <a:pt x="9" y="21"/>
                    </a:cubicBezTo>
                    <a:cubicBezTo>
                      <a:pt x="9" y="15"/>
                      <a:pt x="14" y="10"/>
                      <a:pt x="21" y="10"/>
                    </a:cubicBezTo>
                    <a:cubicBezTo>
                      <a:pt x="27" y="10"/>
                      <a:pt x="32" y="15"/>
                      <a:pt x="32" y="21"/>
                    </a:cubicBezTo>
                    <a:cubicBezTo>
                      <a:pt x="32" y="28"/>
                      <a:pt x="27" y="33"/>
                      <a:pt x="21" y="33"/>
                    </a:cubicBezTo>
                    <a:close/>
                    <a:moveTo>
                      <a:pt x="21" y="33"/>
                    </a:moveTo>
                    <a:cubicBezTo>
                      <a:pt x="21" y="33"/>
                      <a:pt x="21" y="33"/>
                      <a:pt x="21" y="3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300">
                  <a:latin typeface="Aptos" panose="020B0004020202020204" pitchFamily="34" charset="0"/>
                </a:endParaRPr>
              </a:p>
            </p:txBody>
          </p:sp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4BD97733-6BE0-93CF-37A5-594CEA41F1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536113" y="3452813"/>
                <a:ext cx="215900" cy="127000"/>
              </a:xfrm>
              <a:custGeom>
                <a:avLst/>
                <a:gdLst>
                  <a:gd name="T0" fmla="*/ 30 w 61"/>
                  <a:gd name="T1" fmla="*/ 0 h 36"/>
                  <a:gd name="T2" fmla="*/ 0 w 61"/>
                  <a:gd name="T3" fmla="*/ 31 h 36"/>
                  <a:gd name="T4" fmla="*/ 4 w 61"/>
                  <a:gd name="T5" fmla="*/ 36 h 36"/>
                  <a:gd name="T6" fmla="*/ 56 w 61"/>
                  <a:gd name="T7" fmla="*/ 36 h 36"/>
                  <a:gd name="T8" fmla="*/ 61 w 61"/>
                  <a:gd name="T9" fmla="*/ 31 h 36"/>
                  <a:gd name="T10" fmla="*/ 30 w 61"/>
                  <a:gd name="T11" fmla="*/ 0 h 36"/>
                  <a:gd name="T12" fmla="*/ 10 w 61"/>
                  <a:gd name="T13" fmla="*/ 26 h 36"/>
                  <a:gd name="T14" fmla="*/ 30 w 61"/>
                  <a:gd name="T15" fmla="*/ 10 h 36"/>
                  <a:gd name="T16" fmla="*/ 51 w 61"/>
                  <a:gd name="T17" fmla="*/ 26 h 36"/>
                  <a:gd name="T18" fmla="*/ 10 w 61"/>
                  <a:gd name="T19" fmla="*/ 26 h 36"/>
                  <a:gd name="T20" fmla="*/ 10 w 61"/>
                  <a:gd name="T21" fmla="*/ 26 h 36"/>
                  <a:gd name="T22" fmla="*/ 10 w 61"/>
                  <a:gd name="T23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1" h="36">
                    <a:moveTo>
                      <a:pt x="30" y="0"/>
                    </a:moveTo>
                    <a:cubicBezTo>
                      <a:pt x="13" y="0"/>
                      <a:pt x="0" y="14"/>
                      <a:pt x="0" y="31"/>
                    </a:cubicBezTo>
                    <a:cubicBezTo>
                      <a:pt x="0" y="33"/>
                      <a:pt x="2" y="36"/>
                      <a:pt x="4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9" y="36"/>
                      <a:pt x="61" y="33"/>
                      <a:pt x="61" y="31"/>
                    </a:cubicBezTo>
                    <a:cubicBezTo>
                      <a:pt x="61" y="14"/>
                      <a:pt x="47" y="0"/>
                      <a:pt x="30" y="0"/>
                    </a:cubicBezTo>
                    <a:close/>
                    <a:moveTo>
                      <a:pt x="10" y="26"/>
                    </a:moveTo>
                    <a:cubicBezTo>
                      <a:pt x="12" y="17"/>
                      <a:pt x="20" y="10"/>
                      <a:pt x="30" y="10"/>
                    </a:cubicBezTo>
                    <a:cubicBezTo>
                      <a:pt x="40" y="10"/>
                      <a:pt x="49" y="17"/>
                      <a:pt x="51" y="26"/>
                    </a:cubicBezTo>
                    <a:lnTo>
                      <a:pt x="10" y="26"/>
                    </a:lnTo>
                    <a:close/>
                    <a:moveTo>
                      <a:pt x="10" y="26"/>
                    </a:moveTo>
                    <a:cubicBezTo>
                      <a:pt x="10" y="26"/>
                      <a:pt x="10" y="26"/>
                      <a:pt x="10" y="2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300">
                  <a:latin typeface="Aptos" panose="020B0004020202020204" pitchFamily="34" charset="0"/>
                </a:endParaRPr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A6C81AF5-E3C5-0165-EB0D-F0DB3310A1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766300" y="3430588"/>
                <a:ext cx="31750" cy="31750"/>
              </a:xfrm>
              <a:custGeom>
                <a:avLst/>
                <a:gdLst>
                  <a:gd name="T0" fmla="*/ 9 w 9"/>
                  <a:gd name="T1" fmla="*/ 4 h 9"/>
                  <a:gd name="T2" fmla="*/ 4 w 9"/>
                  <a:gd name="T3" fmla="*/ 9 h 9"/>
                  <a:gd name="T4" fmla="*/ 0 w 9"/>
                  <a:gd name="T5" fmla="*/ 4 h 9"/>
                  <a:gd name="T6" fmla="*/ 4 w 9"/>
                  <a:gd name="T7" fmla="*/ 0 h 9"/>
                  <a:gd name="T8" fmla="*/ 9 w 9"/>
                  <a:gd name="T9" fmla="*/ 4 h 9"/>
                  <a:gd name="T10" fmla="*/ 9 w 9"/>
                  <a:gd name="T11" fmla="*/ 4 h 9"/>
                  <a:gd name="T12" fmla="*/ 9 w 9"/>
                  <a:gd name="T13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9">
                    <a:moveTo>
                      <a:pt x="9" y="4"/>
                    </a:moveTo>
                    <a:cubicBezTo>
                      <a:pt x="9" y="7"/>
                      <a:pt x="7" y="9"/>
                      <a:pt x="4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9" y="2"/>
                      <a:pt x="9" y="4"/>
                    </a:cubicBezTo>
                    <a:close/>
                    <a:moveTo>
                      <a:pt x="9" y="4"/>
                    </a:moveTo>
                    <a:cubicBezTo>
                      <a:pt x="9" y="4"/>
                      <a:pt x="9" y="4"/>
                      <a:pt x="9" y="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300">
                  <a:latin typeface="Aptos" panose="020B0004020202020204" pitchFamily="34" charset="0"/>
                </a:endParaRPr>
              </a:p>
            </p:txBody>
          </p:sp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0EF9387E-EDE6-0DFA-E6E5-0CEA8AB7CA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485313" y="3430588"/>
                <a:ext cx="36512" cy="31750"/>
              </a:xfrm>
              <a:custGeom>
                <a:avLst/>
                <a:gdLst>
                  <a:gd name="T0" fmla="*/ 10 w 10"/>
                  <a:gd name="T1" fmla="*/ 4 h 9"/>
                  <a:gd name="T2" fmla="*/ 5 w 10"/>
                  <a:gd name="T3" fmla="*/ 9 h 9"/>
                  <a:gd name="T4" fmla="*/ 0 w 10"/>
                  <a:gd name="T5" fmla="*/ 4 h 9"/>
                  <a:gd name="T6" fmla="*/ 5 w 10"/>
                  <a:gd name="T7" fmla="*/ 0 h 9"/>
                  <a:gd name="T8" fmla="*/ 10 w 10"/>
                  <a:gd name="T9" fmla="*/ 4 h 9"/>
                  <a:gd name="T10" fmla="*/ 10 w 10"/>
                  <a:gd name="T11" fmla="*/ 4 h 9"/>
                  <a:gd name="T12" fmla="*/ 10 w 10"/>
                  <a:gd name="T13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9">
                    <a:moveTo>
                      <a:pt x="10" y="4"/>
                    </a:moveTo>
                    <a:cubicBezTo>
                      <a:pt x="10" y="7"/>
                      <a:pt x="8" y="9"/>
                      <a:pt x="5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0" y="2"/>
                      <a:pt x="10" y="4"/>
                    </a:cubicBezTo>
                    <a:close/>
                    <a:moveTo>
                      <a:pt x="10" y="4"/>
                    </a:moveTo>
                    <a:cubicBezTo>
                      <a:pt x="10" y="4"/>
                      <a:pt x="10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300">
                  <a:latin typeface="Aptos" panose="020B0004020202020204" pitchFamily="34" charset="0"/>
                </a:endParaRPr>
              </a:p>
            </p:txBody>
          </p:sp>
        </p:grpSp>
      </p:grpSp>
      <p:pic>
        <p:nvPicPr>
          <p:cNvPr id="34" name="Graphic 33" descr="Bank with solid fill">
            <a:extLst>
              <a:ext uri="{FF2B5EF4-FFF2-40B4-BE49-F238E27FC236}">
                <a16:creationId xmlns:a16="http://schemas.microsoft.com/office/drawing/2014/main" id="{BA32A555-C39B-C26A-2278-2FE180739D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2718" y="1676113"/>
            <a:ext cx="227505" cy="227505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EFDAA93E-540D-F2D6-78F3-7C3193AF9FB9}"/>
              </a:ext>
            </a:extLst>
          </p:cNvPr>
          <p:cNvSpPr/>
          <p:nvPr/>
        </p:nvSpPr>
        <p:spPr>
          <a:xfrm>
            <a:off x="8085557" y="1532093"/>
            <a:ext cx="367631" cy="367631"/>
          </a:xfrm>
          <a:prstGeom prst="ellipse">
            <a:avLst/>
          </a:prstGeom>
          <a:solidFill>
            <a:srgbClr val="1B3B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B8441FC-816D-9C7B-8CBB-2A2E388C6161}"/>
              </a:ext>
            </a:extLst>
          </p:cNvPr>
          <p:cNvSpPr/>
          <p:nvPr/>
        </p:nvSpPr>
        <p:spPr>
          <a:xfrm>
            <a:off x="3436202" y="4336259"/>
            <a:ext cx="367631" cy="367631"/>
          </a:xfrm>
          <a:prstGeom prst="ellipse">
            <a:avLst/>
          </a:prstGeom>
          <a:solidFill>
            <a:srgbClr val="1B3B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DD8B30-DA17-6EBD-51D0-4BD92ED9994E}"/>
              </a:ext>
            </a:extLst>
          </p:cNvPr>
          <p:cNvSpPr/>
          <p:nvPr/>
        </p:nvSpPr>
        <p:spPr>
          <a:xfrm>
            <a:off x="8249803" y="3900700"/>
            <a:ext cx="367631" cy="367631"/>
          </a:xfrm>
          <a:prstGeom prst="ellipse">
            <a:avLst/>
          </a:prstGeom>
          <a:solidFill>
            <a:srgbClr val="1B3B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38" name="Graphic 37" descr="Earth globe: Americas with solid fill">
            <a:extLst>
              <a:ext uri="{FF2B5EF4-FFF2-40B4-BE49-F238E27FC236}">
                <a16:creationId xmlns:a16="http://schemas.microsoft.com/office/drawing/2014/main" id="{DD98BC03-829B-AC08-44A4-B80F8505C7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55972" y="1602508"/>
            <a:ext cx="226800" cy="226800"/>
          </a:xfrm>
          <a:prstGeom prst="rect">
            <a:avLst/>
          </a:prstGeom>
        </p:spPr>
      </p:pic>
      <p:pic>
        <p:nvPicPr>
          <p:cNvPr id="39" name="Graphic 38" descr="Wallet with solid fill">
            <a:extLst>
              <a:ext uri="{FF2B5EF4-FFF2-40B4-BE49-F238E27FC236}">
                <a16:creationId xmlns:a16="http://schemas.microsoft.com/office/drawing/2014/main" id="{0016F85F-DDA4-C29F-E521-85EB61B0B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6617" y="4425027"/>
            <a:ext cx="226800" cy="226800"/>
          </a:xfrm>
          <a:prstGeom prst="rect">
            <a:avLst/>
          </a:prstGeom>
        </p:spPr>
      </p:pic>
      <p:pic>
        <p:nvPicPr>
          <p:cNvPr id="40" name="Picture 39" descr="A cartoon of a robot&#10;&#10;AI-generated content may be incorrect.">
            <a:extLst>
              <a:ext uri="{FF2B5EF4-FFF2-40B4-BE49-F238E27FC236}">
                <a16:creationId xmlns:a16="http://schemas.microsoft.com/office/drawing/2014/main" id="{73DAF883-267C-A0C1-AFA5-FC08DB3658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190" y="3852448"/>
            <a:ext cx="1016583" cy="1239878"/>
          </a:xfrm>
          <a:prstGeom prst="rect">
            <a:avLst/>
          </a:prstGeom>
        </p:spPr>
      </p:pic>
      <p:sp>
        <p:nvSpPr>
          <p:cNvPr id="41" name="Freeform 82">
            <a:extLst>
              <a:ext uri="{FF2B5EF4-FFF2-40B4-BE49-F238E27FC236}">
                <a16:creationId xmlns:a16="http://schemas.microsoft.com/office/drawing/2014/main" id="{50CA78C5-C171-0DC1-8F31-FFBE520C44C5}"/>
              </a:ext>
            </a:extLst>
          </p:cNvPr>
          <p:cNvSpPr/>
          <p:nvPr/>
        </p:nvSpPr>
        <p:spPr bwMode="gray">
          <a:xfrm rot="16200000" flipH="1" flipV="1">
            <a:off x="7809278" y="4419308"/>
            <a:ext cx="770741" cy="517078"/>
          </a:xfrm>
          <a:custGeom>
            <a:avLst/>
            <a:gdLst>
              <a:gd name="connsiteX0" fmla="*/ 1575303 w 1575303"/>
              <a:gd name="connsiteY0" fmla="*/ 1403288 h 1403288"/>
              <a:gd name="connsiteX1" fmla="*/ 1575303 w 1575303"/>
              <a:gd name="connsiteY1" fmla="*/ 0 h 1403288"/>
              <a:gd name="connsiteX2" fmla="*/ 0 w 1575303"/>
              <a:gd name="connsiteY2" fmla="*/ 0 h 140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5303" h="1403288">
                <a:moveTo>
                  <a:pt x="1575303" y="1403288"/>
                </a:moveTo>
                <a:lnTo>
                  <a:pt x="1575303" y="0"/>
                </a:lnTo>
                <a:lnTo>
                  <a:pt x="0" y="0"/>
                </a:lnTo>
              </a:path>
            </a:pathLst>
          </a:custGeom>
          <a:noFill/>
          <a:ln w="1270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oval"/>
          </a:ln>
        </p:spPr>
        <p:txBody>
          <a:bodyPr anchor="ctr"/>
          <a:lstStyle/>
          <a:p>
            <a:pPr algn="ctr" defTabSz="1219170" eaLnBrk="0" fontAlgn="base" hangingPunct="0">
              <a:defRPr/>
            </a:pPr>
            <a:endParaRPr lang="en-US" sz="1300">
              <a:latin typeface="Aptos" panose="020B0004020202020204" pitchFamily="34" charset="0"/>
            </a:endParaRPr>
          </a:p>
        </p:txBody>
      </p:sp>
      <p:sp>
        <p:nvSpPr>
          <p:cNvPr id="42" name="Freeform 82">
            <a:extLst>
              <a:ext uri="{FF2B5EF4-FFF2-40B4-BE49-F238E27FC236}">
                <a16:creationId xmlns:a16="http://schemas.microsoft.com/office/drawing/2014/main" id="{78CC3C47-4F72-0A69-2FCF-645A1F0587B5}"/>
              </a:ext>
            </a:extLst>
          </p:cNvPr>
          <p:cNvSpPr/>
          <p:nvPr/>
        </p:nvSpPr>
        <p:spPr bwMode="gray">
          <a:xfrm rot="16200000" flipH="1" flipV="1">
            <a:off x="7314521" y="1532029"/>
            <a:ext cx="589188" cy="1324575"/>
          </a:xfrm>
          <a:custGeom>
            <a:avLst/>
            <a:gdLst>
              <a:gd name="connsiteX0" fmla="*/ 1575303 w 1575303"/>
              <a:gd name="connsiteY0" fmla="*/ 1403288 h 1403288"/>
              <a:gd name="connsiteX1" fmla="*/ 1575303 w 1575303"/>
              <a:gd name="connsiteY1" fmla="*/ 0 h 1403288"/>
              <a:gd name="connsiteX2" fmla="*/ 0 w 1575303"/>
              <a:gd name="connsiteY2" fmla="*/ 0 h 140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5303" h="1403288">
                <a:moveTo>
                  <a:pt x="1575303" y="1403288"/>
                </a:moveTo>
                <a:lnTo>
                  <a:pt x="1575303" y="0"/>
                </a:lnTo>
                <a:lnTo>
                  <a:pt x="0" y="0"/>
                </a:lnTo>
              </a:path>
            </a:pathLst>
          </a:custGeom>
          <a:noFill/>
          <a:ln w="1270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oval"/>
          </a:ln>
        </p:spPr>
        <p:txBody>
          <a:bodyPr anchor="ctr"/>
          <a:lstStyle/>
          <a:p>
            <a:pPr algn="ctr" defTabSz="1219170" eaLnBrk="0" fontAlgn="base" hangingPunct="0">
              <a:defRPr/>
            </a:pPr>
            <a:endParaRPr lang="en-US" sz="1300">
              <a:latin typeface="Aptos" panose="020B0004020202020204" pitchFamily="34" charset="0"/>
            </a:endParaRPr>
          </a:p>
        </p:txBody>
      </p:sp>
      <p:sp>
        <p:nvSpPr>
          <p:cNvPr id="43" name="Freeform 82">
            <a:extLst>
              <a:ext uri="{FF2B5EF4-FFF2-40B4-BE49-F238E27FC236}">
                <a16:creationId xmlns:a16="http://schemas.microsoft.com/office/drawing/2014/main" id="{3AC6F4F7-419D-82F2-AD64-DCC2BC86D02C}"/>
              </a:ext>
            </a:extLst>
          </p:cNvPr>
          <p:cNvSpPr/>
          <p:nvPr/>
        </p:nvSpPr>
        <p:spPr bwMode="gray">
          <a:xfrm rot="16200000" flipH="1">
            <a:off x="2829364" y="2176227"/>
            <a:ext cx="1340952" cy="1008114"/>
          </a:xfrm>
          <a:custGeom>
            <a:avLst/>
            <a:gdLst>
              <a:gd name="connsiteX0" fmla="*/ 1575303 w 1575303"/>
              <a:gd name="connsiteY0" fmla="*/ 1403288 h 1403288"/>
              <a:gd name="connsiteX1" fmla="*/ 1575303 w 1575303"/>
              <a:gd name="connsiteY1" fmla="*/ 0 h 1403288"/>
              <a:gd name="connsiteX2" fmla="*/ 0 w 1575303"/>
              <a:gd name="connsiteY2" fmla="*/ 0 h 140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5303" h="1403288">
                <a:moveTo>
                  <a:pt x="1575303" y="1403288"/>
                </a:moveTo>
                <a:lnTo>
                  <a:pt x="1575303" y="0"/>
                </a:lnTo>
                <a:lnTo>
                  <a:pt x="0" y="0"/>
                </a:lnTo>
              </a:path>
            </a:pathLst>
          </a:custGeom>
          <a:noFill/>
          <a:ln w="1270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oval"/>
          </a:ln>
        </p:spPr>
        <p:txBody>
          <a:bodyPr anchor="ctr"/>
          <a:lstStyle/>
          <a:p>
            <a:pPr algn="ctr" defTabSz="1219170" eaLnBrk="0" fontAlgn="base" hangingPunct="0">
              <a:defRPr/>
            </a:pPr>
            <a:endParaRPr lang="en-US" sz="1300">
              <a:latin typeface="Aptos" panose="020B0004020202020204" pitchFamily="34" charset="0"/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EDF7B426-2333-3CDD-FDA8-7BFDFF9DD539}"/>
              </a:ext>
            </a:extLst>
          </p:cNvPr>
          <p:cNvSpPr txBox="1">
            <a:spLocks/>
          </p:cNvSpPr>
          <p:nvPr/>
        </p:nvSpPr>
        <p:spPr>
          <a:xfrm>
            <a:off x="196464" y="245507"/>
            <a:ext cx="11738775" cy="60217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ptos" panose="020B0004020202020204" pitchFamily="34" charset="0"/>
              </a:rPr>
              <a:t>Impact Expected: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ptos" panose="020B0004020202020204" pitchFamily="34" charset="0"/>
              </a:rPr>
              <a:t>Business, Environment, Market &amp; Cost Impact</a:t>
            </a:r>
          </a:p>
        </p:txBody>
      </p:sp>
      <p:pic>
        <p:nvPicPr>
          <p:cNvPr id="3" name="Graphic 2" descr="Compost with solid fill">
            <a:extLst>
              <a:ext uri="{FF2B5EF4-FFF2-40B4-BE49-F238E27FC236}">
                <a16:creationId xmlns:a16="http://schemas.microsoft.com/office/drawing/2014/main" id="{CA303C6B-9775-052D-D72B-C215300CAB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7383" y="3906034"/>
            <a:ext cx="294306" cy="294306"/>
          </a:xfrm>
          <a:prstGeom prst="rect">
            <a:avLst/>
          </a:prstGeom>
        </p:spPr>
      </p:pic>
      <p:pic>
        <p:nvPicPr>
          <p:cNvPr id="5" name="Graphic 4" descr="Compost with solid fill">
            <a:extLst>
              <a:ext uri="{FF2B5EF4-FFF2-40B4-BE49-F238E27FC236}">
                <a16:creationId xmlns:a16="http://schemas.microsoft.com/office/drawing/2014/main" id="{2319FB82-B03C-6C8E-EFA5-CFAD6A403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77062" y="3758881"/>
            <a:ext cx="294306" cy="294306"/>
          </a:xfrm>
          <a:prstGeom prst="rect">
            <a:avLst/>
          </a:prstGeom>
        </p:spPr>
      </p:pic>
      <p:sp>
        <p:nvSpPr>
          <p:cNvPr id="2" name="FooterText">
            <a:extLst>
              <a:ext uri="{FF2B5EF4-FFF2-40B4-BE49-F238E27FC236}">
                <a16:creationId xmlns:a16="http://schemas.microsoft.com/office/drawing/2014/main" id="{5A04DF21-B91C-4937-8C7E-BE0E795C7D36}"/>
              </a:ext>
            </a:extLst>
          </p:cNvPr>
          <p:cNvSpPr txBox="1"/>
          <p:nvPr/>
        </p:nvSpPr>
        <p:spPr>
          <a:xfrm>
            <a:off x="546100" y="6604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000" b="1" dirty="0">
                <a:solidFill>
                  <a:srgbClr val="26493A"/>
                </a:solidFill>
                <a:latin typeface="Calibri"/>
                <a:ea typeface="Calibri"/>
                <a:cs typeface="Calibri"/>
              </a:rPr>
              <a:t>AGENTFORCE FOR GOOD HACKATHON · DREAMFORCE 2026</a:t>
            </a:r>
            <a:endParaRPr lang="en-IN" sz="1000" b="1" dirty="0">
              <a:solidFill>
                <a:srgbClr val="26493A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317988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6AB8A88-1A39-5782-CDE9-90C02AF038B0}"/>
              </a:ext>
            </a:extLst>
          </p:cNvPr>
          <p:cNvSpPr txBox="1">
            <a:spLocks/>
          </p:cNvSpPr>
          <p:nvPr/>
        </p:nvSpPr>
        <p:spPr>
          <a:xfrm>
            <a:off x="422508" y="-279015"/>
            <a:ext cx="10587594" cy="11477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lvl="0">
              <a:spcAft>
                <a:spcPts val="600"/>
              </a:spcAft>
              <a:defRPr/>
            </a:pPr>
            <a:r>
              <a:rPr kumimoji="0" lang="en-US" sz="2400" b="1" i="1" u="none" strike="noStrike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AI </a:t>
            </a:r>
            <a:r>
              <a:rPr lang="en-US" sz="2400" b="1" i="1" dirty="0">
                <a:solidFill>
                  <a:schemeClr val="accent3"/>
                </a:solidFill>
              </a:rPr>
              <a:t>Expert Suite - Accessibility Expert Skill and RAI Self Check Skill</a:t>
            </a:r>
            <a:endParaRPr kumimoji="0" lang="en-US" sz="2400" b="1" i="1" u="none" strike="noStrike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CBB300-511C-162E-45C9-4E5016549875}"/>
              </a:ext>
            </a:extLst>
          </p:cNvPr>
          <p:cNvSpPr txBox="1">
            <a:spLocks/>
          </p:cNvSpPr>
          <p:nvPr/>
        </p:nvSpPr>
        <p:spPr>
          <a:xfrm>
            <a:off x="2011289" y="2699076"/>
            <a:ext cx="3228286" cy="2286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91440" tIns="91440" rIns="91440" bIns="9144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600" dirty="0" err="1">
                <a:solidFill>
                  <a:schemeClr val="tx1"/>
                </a:solidFill>
              </a:rPr>
              <a:t>Agentforce</a:t>
            </a:r>
            <a:r>
              <a:rPr lang="en-US" sz="1600" dirty="0">
                <a:solidFill>
                  <a:schemeClr val="tx1"/>
                </a:solidFill>
              </a:rPr>
              <a:t> voice enables hands-free, conversational interactions so users with visual, motor, or cognitive impairments can fully access Salesforce services. 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</a:rPr>
              <a:t>This expands usability across all customer segments, reducing barriers to digital engagement.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7FF4F30-7519-BB12-40C3-6E274880A36A}"/>
              </a:ext>
            </a:extLst>
          </p:cNvPr>
          <p:cNvSpPr txBox="1">
            <a:spLocks/>
          </p:cNvSpPr>
          <p:nvPr/>
        </p:nvSpPr>
        <p:spPr>
          <a:xfrm>
            <a:off x="7000874" y="2688826"/>
            <a:ext cx="3228286" cy="228600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lIns="91440" tIns="91440" rIns="91440" bIns="9144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tx1"/>
                </a:solidFill>
              </a:rPr>
              <a:t>The Einstein Trust Layer delivers responsible AI by handling grounding, privacy, toxicity filtering, bias detection, and robust auditability. 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tx1"/>
                </a:solidFill>
              </a:rPr>
              <a:t>RAI Self Check controls are built in, mitigating risk across each sub agents</a:t>
            </a:r>
            <a:r>
              <a:rPr lang="en-US" sz="1600">
                <a:solidFill>
                  <a:schemeClr val="tx1"/>
                </a:solidFill>
              </a:rPr>
              <a:t>/ topics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C8EADE29-96B2-0CB2-CFA8-1299FFF577C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81675" y="5407200"/>
            <a:ext cx="598488" cy="5207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6772 w 21600"/>
              <a:gd name="T13" fmla="*/ 6772 h 21600"/>
              <a:gd name="T14" fmla="*/ 14828 w 21600"/>
              <a:gd name="T15" fmla="*/ 1482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43" y="21600"/>
                </a:lnTo>
                <a:lnTo>
                  <a:pt x="11657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rot="10800000" wrap="none" lIns="36000" tIns="36000" rIns="36000" bIns="36000" anchor="ctr"/>
          <a:lstStyle/>
          <a:p>
            <a:pPr algn="ctr">
              <a:defRPr/>
            </a:pPr>
            <a:endParaRPr lang="en-US" sz="1400" dirty="0"/>
          </a:p>
        </p:txBody>
      </p:sp>
      <p:grpSp>
        <p:nvGrpSpPr>
          <p:cNvPr id="9" name="Group 6">
            <a:extLst>
              <a:ext uri="{FF2B5EF4-FFF2-40B4-BE49-F238E27FC236}">
                <a16:creationId xmlns:a16="http://schemas.microsoft.com/office/drawing/2014/main" id="{79364331-C3A6-0FE8-B840-5FD3325D1FF4}"/>
              </a:ext>
            </a:extLst>
          </p:cNvPr>
          <p:cNvGrpSpPr>
            <a:grpSpLocks/>
          </p:cNvGrpSpPr>
          <p:nvPr/>
        </p:nvGrpSpPr>
        <p:grpSpPr bwMode="auto">
          <a:xfrm rot="644965">
            <a:off x="3839399" y="4592090"/>
            <a:ext cx="4649787" cy="1220787"/>
            <a:chOff x="1390" y="2928"/>
            <a:chExt cx="2929" cy="769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86C4609-43DD-5530-93B3-49590C87B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" y="2928"/>
              <a:ext cx="2929" cy="769"/>
            </a:xfrm>
            <a:custGeom>
              <a:avLst/>
              <a:gdLst>
                <a:gd name="T0" fmla="*/ 0 w 2929"/>
                <a:gd name="T1" fmla="*/ 528 h 769"/>
                <a:gd name="T2" fmla="*/ 0 w 2929"/>
                <a:gd name="T3" fmla="*/ 768 h 769"/>
                <a:gd name="T4" fmla="*/ 2928 w 2929"/>
                <a:gd name="T5" fmla="*/ 240 h 769"/>
                <a:gd name="T6" fmla="*/ 2928 w 2929"/>
                <a:gd name="T7" fmla="*/ 0 h 7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9"/>
                <a:gd name="T13" fmla="*/ 0 h 769"/>
                <a:gd name="T14" fmla="*/ 2929 w 2929"/>
                <a:gd name="T15" fmla="*/ 769 h 7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9" h="769">
                  <a:moveTo>
                    <a:pt x="0" y="528"/>
                  </a:moveTo>
                  <a:lnTo>
                    <a:pt x="0" y="768"/>
                  </a:lnTo>
                  <a:lnTo>
                    <a:pt x="2928" y="240"/>
                  </a:lnTo>
                  <a:lnTo>
                    <a:pt x="2928" y="0"/>
                  </a:lnTo>
                </a:path>
              </a:pathLst>
            </a:custGeom>
            <a:noFill/>
            <a:ln w="57150" cap="rnd">
              <a:solidFill>
                <a:schemeClr val="bg1">
                  <a:lumMod val="95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 lIns="36000" tIns="36000" rIns="36000" bIns="36000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CFC401EE-C5CD-AAA5-65C3-417605ED934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0993914" flipV="1">
              <a:off x="2822" y="3168"/>
              <a:ext cx="0" cy="480"/>
            </a:xfrm>
            <a:prstGeom prst="line">
              <a:avLst/>
            </a:prstGeom>
            <a:noFill/>
            <a:ln w="57150">
              <a:solidFill>
                <a:schemeClr val="bg1">
                  <a:lumMod val="95000"/>
                </a:schemeClr>
              </a:solidFill>
              <a:round/>
              <a:headEnd/>
              <a:tailEnd type="triangle" w="med" len="med"/>
            </a:ln>
          </p:spPr>
          <p:txBody>
            <a:bodyPr wrap="none" lIns="36000" tIns="36000" rIns="36000" bIns="36000" anchor="ctr"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12" name="Text Box 10">
            <a:extLst>
              <a:ext uri="{FF2B5EF4-FFF2-40B4-BE49-F238E27FC236}">
                <a16:creationId xmlns:a16="http://schemas.microsoft.com/office/drawing/2014/main" id="{03E38818-0814-FD1A-3F13-6CAD27076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289" y="2449397"/>
            <a:ext cx="3228286" cy="239428"/>
          </a:xfrm>
          <a:prstGeom prst="rect">
            <a:avLst/>
          </a:prstGeom>
          <a:solidFill>
            <a:schemeClr val="accent3"/>
          </a:solidFill>
          <a:ln w="12700" algn="ctr">
            <a:solidFill>
              <a:schemeClr val="accent3"/>
            </a:solidFill>
            <a:miter lim="800000"/>
            <a:headEnd/>
            <a:tailEnd type="none" w="sm" len="med"/>
          </a:ln>
        </p:spPr>
        <p:txBody>
          <a:bodyPr lIns="91440" tIns="91440" rIns="91440" bIns="91440" anchor="ctr" anchorCtr="0"/>
          <a:lstStyle/>
          <a:p>
            <a:pPr defTabSz="957263"/>
            <a:r>
              <a:rPr lang="en-US" sz="1600" dirty="0">
                <a:solidFill>
                  <a:schemeClr val="bg1"/>
                </a:solidFill>
              </a:rPr>
              <a:t>Accessibility Expert Skill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C2F8406A-7F8A-86F4-6A6B-03B1D2456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4" y="2439147"/>
            <a:ext cx="3228286" cy="239428"/>
          </a:xfrm>
          <a:prstGeom prst="rect">
            <a:avLst/>
          </a:prstGeom>
          <a:solidFill>
            <a:schemeClr val="accent3"/>
          </a:solidFill>
          <a:ln w="12700" algn="ctr">
            <a:solidFill>
              <a:schemeClr val="accent3"/>
            </a:solidFill>
            <a:miter lim="800000"/>
            <a:headEnd/>
            <a:tailEnd type="none" w="sm" len="med"/>
          </a:ln>
        </p:spPr>
        <p:txBody>
          <a:bodyPr lIns="91440" tIns="91440" rIns="91440" bIns="91440" anchor="ctr" anchorCtr="0"/>
          <a:lstStyle/>
          <a:p>
            <a:pPr>
              <a:lnSpc>
                <a:spcPts val="1800"/>
              </a:lnSpc>
              <a:spcBef>
                <a:spcPts val="1000"/>
              </a:spcBef>
              <a:defRPr/>
            </a:pPr>
            <a:r>
              <a:rPr lang="en-US" sz="1600" dirty="0">
                <a:solidFill>
                  <a:schemeClr val="bg1"/>
                </a:solidFill>
              </a:rPr>
              <a:t>RAI Self Check Skill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74FC9A-888C-8516-74DB-62BC03C41044}"/>
              </a:ext>
            </a:extLst>
          </p:cNvPr>
          <p:cNvSpPr txBox="1"/>
          <p:nvPr/>
        </p:nvSpPr>
        <p:spPr>
          <a:xfrm>
            <a:off x="422508" y="993874"/>
            <a:ext cx="10718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Agentforce</a:t>
            </a:r>
            <a:r>
              <a:rPr lang="en-US" dirty="0"/>
              <a:t> voice unlocks accessibility while Einstein Trust Layer enforces responsible AI—together, ensures inclusive access and intrinsically responsible AI, ensuring all users are served safely and equally</a:t>
            </a:r>
          </a:p>
        </p:txBody>
      </p:sp>
    </p:spTree>
    <p:extLst>
      <p:ext uri="{BB962C8B-B14F-4D97-AF65-F5344CB8AC3E}">
        <p14:creationId xmlns:p14="http://schemas.microsoft.com/office/powerpoint/2010/main" val="62897174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3328"/>
            </a:gs>
            <a:gs pos="100000">
              <a:srgbClr val="0D1F1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D6E5B0-E8F1-B5E0-086A-95CD22EF779F}"/>
              </a:ext>
            </a:extLst>
          </p:cNvPr>
          <p:cNvSpPr txBox="1"/>
          <p:nvPr/>
        </p:nvSpPr>
        <p:spPr>
          <a:xfrm>
            <a:off x="2786743" y="1632857"/>
            <a:ext cx="724988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Thank you!  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2" name="ColorBlobBig"/>
          <p:cNvSpPr/>
          <p:nvPr/>
        </p:nvSpPr>
        <p:spPr>
          <a:xfrm>
            <a:off x="8255000" y="3048000"/>
            <a:ext cx="3810000" cy="3810000"/>
          </a:xfrm>
          <a:prstGeom prst="ellipse">
            <a:avLst/>
          </a:prstGeom>
          <a:solidFill>
            <a:srgbClr val="26493A">
              <a:alpha val="7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ColorBlobMid"/>
          <p:cNvSpPr/>
          <p:nvPr/>
        </p:nvSpPr>
        <p:spPr>
          <a:xfrm>
            <a:off x="9652000" y="4318000"/>
            <a:ext cx="2540000" cy="2540000"/>
          </a:xfrm>
          <a:prstGeom prst="ellipse">
            <a:avLst/>
          </a:prstGeom>
          <a:solidFill>
            <a:srgbClr val="7FA87F">
              <a:alpha val="78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ColorBlobSmall"/>
          <p:cNvSpPr/>
          <p:nvPr/>
        </p:nvSpPr>
        <p:spPr>
          <a:xfrm>
            <a:off x="8001000" y="4318000"/>
            <a:ext cx="2286000" cy="2286000"/>
          </a:xfrm>
          <a:prstGeom prst="ellipse">
            <a:avLst/>
          </a:prstGeom>
          <a:solidFill>
            <a:srgbClr val="C98F4E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AccentBar"/>
          <p:cNvSpPr/>
          <p:nvPr/>
        </p:nvSpPr>
        <p:spPr>
          <a:xfrm>
            <a:off x="38100" y="38100"/>
            <a:ext cx="177800" cy="6781800"/>
          </a:xfrm>
          <a:prstGeom prst="rect">
            <a:avLst/>
          </a:prstGeom>
          <a:solidFill>
            <a:srgbClr val="C98F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FooterText">
            <a:extLst>
              <a:ext uri="{FF2B5EF4-FFF2-40B4-BE49-F238E27FC236}">
                <a16:creationId xmlns:a16="http://schemas.microsoft.com/office/drawing/2014/main" id="{C6D04CE8-986E-4867-88BC-EE1754276600}"/>
              </a:ext>
            </a:extLst>
          </p:cNvPr>
          <p:cNvSpPr txBox="1"/>
          <p:nvPr/>
        </p:nvSpPr>
        <p:spPr>
          <a:xfrm>
            <a:off x="546100" y="62611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100">
                <a:solidFill>
                  <a:srgbClr val="C9DDBB"/>
                </a:solidFill>
                <a:latin typeface="Calibri"/>
                <a:ea typeface="Calibri"/>
                <a:cs typeface="Calibri"/>
              </a:rPr>
              <a:t>AGENTFORCE FOR GOOD HACKATHON · DREAMFORCE 2026</a:t>
            </a:r>
            <a:endParaRPr lang="en-IN" sz="1100">
              <a:solidFill>
                <a:srgbClr val="C9DDB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LeafBadgeBack">
            <a:extLst>
              <a:ext uri="{FF2B5EF4-FFF2-40B4-BE49-F238E27FC236}">
                <a16:creationId xmlns:a16="http://schemas.microsoft.com/office/drawing/2014/main" id="{7B4C3E5C-D3DF-1620-01E6-FCF6051D6CF0}"/>
              </a:ext>
            </a:extLst>
          </p:cNvPr>
          <p:cNvSpPr/>
          <p:nvPr/>
        </p:nvSpPr>
        <p:spPr>
          <a:xfrm>
            <a:off x="9906000" y="5225143"/>
            <a:ext cx="762000" cy="762000"/>
          </a:xfrm>
          <a:prstGeom prst="ellipse">
            <a:avLst/>
          </a:prstGeom>
          <a:solidFill>
            <a:srgbClr val="C98F4E"/>
          </a:solidFill>
          <a:ln w="25400" cap="flat" cmpd="sng" algn="ctr">
            <a:solidFill>
              <a:srgbClr val="FFD1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pic>
        <p:nvPicPr>
          <p:cNvPr id="8" name="Graphic 28" descr="Leaf accent badge overlapping the globe">
            <a:extLst>
              <a:ext uri="{FF2B5EF4-FFF2-40B4-BE49-F238E27FC236}">
                <a16:creationId xmlns:a16="http://schemas.microsoft.com/office/drawing/2014/main" id="{D7CFB9C4-E9B2-D401-B4BD-ED0733C54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0" y="5377543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28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35E4E0E-BFBF-4E89-9986-B3EFE828E3A7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f4563bad-c68c-4342-925f-9e6b077bf33d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3002</TotalTime>
  <Words>994</Words>
  <Application>Microsoft Office PowerPoint</Application>
  <PresentationFormat>Widescreen</PresentationFormat>
  <Paragraphs>122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</vt:lpstr>
      <vt:lpstr>Open Sans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Selvaraj, Swathi</dc:creator>
  <cp:lastModifiedBy>Hemrajani, Dalesha</cp:lastModifiedBy>
  <cp:revision>2</cp:revision>
  <dcterms:created xsi:type="dcterms:W3CDTF">2026-09-04T09:40:01Z</dcterms:created>
  <dcterms:modified xsi:type="dcterms:W3CDTF">2026-09-07T16:22:53Z</dcterms:modified>
</cp:coreProperties>
</file>